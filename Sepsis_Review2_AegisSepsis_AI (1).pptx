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82" r:id="rId19"/>
    <p:sldId id="272" r:id="rId20"/>
    <p:sldId id="273" r:id="rId21"/>
    <p:sldId id="274" r:id="rId22"/>
    <p:sldId id="278" r:id="rId23"/>
    <p:sldId id="279" r:id="rId24"/>
    <p:sldId id="280" r:id="rId25"/>
    <p:sldId id="275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36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A21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86800" y="3429000"/>
            <a:ext cx="50292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flipV="1">
            <a:off x="9189720" y="2834640"/>
            <a:ext cx="182880" cy="5943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72600" y="2834640"/>
            <a:ext cx="182880" cy="14173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flipV="1">
            <a:off x="9555480" y="2148840"/>
            <a:ext cx="182880" cy="21031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738360" y="2148840"/>
            <a:ext cx="228600" cy="12801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66960" y="3429000"/>
            <a:ext cx="182880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921240" y="3337560"/>
            <a:ext cx="182880" cy="182880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32520" y="1005840"/>
            <a:ext cx="109728" cy="109728"/>
          </a:xfrm>
          <a:prstGeom prst="ellipse">
            <a:avLst/>
          </a:prstGeom>
          <a:solidFill>
            <a:srgbClr val="9FC2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21440" y="5486400"/>
            <a:ext cx="146304" cy="146304"/>
          </a:xfrm>
          <a:prstGeom prst="ellipse">
            <a:avLst/>
          </a:prstGeom>
          <a:solidFill>
            <a:srgbClr val="FFD9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607040" y="5029200"/>
            <a:ext cx="82296" cy="82296"/>
          </a:xfrm>
          <a:prstGeom prst="ellipse">
            <a:avLst/>
          </a:prstGeom>
          <a:solidFill>
            <a:srgbClr val="9FC2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548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and Information Systems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PAMCA698 — INTERNSHIP I / DISSERTATION I (PROJECT)  |  REVIEW 2  |  FALL SEMESTER 2026–27  |  07.10.2026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737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Measurement-Process-Aware Causal Trajectory Modeling for Transportable Early Sepsis Prediction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AegisSepsis AI — A Multi-Center Retrospective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Sudhanshu Kumar Jha  —  25MCA0181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SWETA BHATTACHARYA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Associate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Grade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183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4183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4183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4183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4183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4183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183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88873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41832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6539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6539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6539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6539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Tech Stack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56539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Stress Tests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6539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Policy &amp; Project Plan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6539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causes nearly 20% of global deaths, and each hour of delayed treatment raises mortality by ~7.6%. ML early-warning models often collapse at new hospitals because they learn site-specific lab-ordering habits instead of true physiology.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decouples physiological dynamics (causal Z-scores, velocity, acceleration) from observation-process vectors (masks, time deltas, sampling counts) and enforces mask-perturbation invariance: L_total = L_bce + λ·L_inv.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without retraining on an independent 20,000-admission BIDMC cohort (0.00% overlap), it cut the transportability gap by 30.52% (p=0.001), was 2.93x more robust to 40% missing data, and a dual-tier policy suppressed 64.2% of false alerts with a 4.2 h lead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5806440"/>
            <a:ext cx="6949440" cy="777240"/>
          </a:xfrm>
          <a:prstGeom prst="rect">
            <a:avLst/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587044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Early Warning, Cross-Institution Transportability, Dataset Shift, ICU Observation Process, Missingness Modeling, Causal Trajectory Normalization.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0" y="1252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20756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AUROC on BIDMC Set B (baseline 0.7161)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E52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955280" y="30358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30.52%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95528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cross-institution transportability 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7091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0" y="4818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95528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suppressed; 4.2 h median lead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04088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Challenge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affects 49M+ people yearly and causes ~20% of global deaths; each hour of delayed antimicrobials raises mortality by ~7.6%.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34840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434840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Observation-Process Shortcuts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 lab-ordering frequency as a feature, learning site-specific habits that break at other hospitals.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4424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165592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65592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Transportability Failure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65592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AUROC decays by 0.05–0.12 (Nestor et al., 2019), blocking real-world deployment.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04088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04088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Fatigue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alerts overwhelm bedside staff; dual-tier screening is needed to cut false alarms.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1908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23076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23076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3076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separates physiology (Z, dZ/dt, d²Z/dt²) from observation process (M, Δt, N) and enforces invariance to mask changes.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face critical challenges: ICU data is sparse and irregularly sampled, so imputation uncertainty becomes false alerts, and sepsis is only 7.57–12.4% of admissions, causing low sensitivity or high false-alarm rates.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also use lab-ordering frequency as a shortcut that holds at the derivation hospital but breaks where ordering is protocolized; AUROC decays by 0.05–0.12 across sites (Nestor et al., 2019). Black-box models further limit clinician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16052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9EEE7"/>
          </a:solidFill>
          <a:ln w="12700">
            <a:solidFill>
              <a:srgbClr val="9FC2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42976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that separates true physiological deterioration from clinical ordering behavior, stays robust at unseen hospitals, and explains every alert while limiting alarm fatigue.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Decoupling Framework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physiology (Z, dZ/dt, d²Z/dt²) from observation process (M, Δt, N).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Normalization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34 variables into causal Z-score trajectories without lookahead leakage.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20,000-patient BIDMC Set B with 0.00% overlap and zero retraining.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0–80%, same-physiology mask perturbation and density-quartile analysis.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Dual-Tier Alert Policy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VAL_POL_0450 to cut false bedside alarms by 64.2%.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Deployment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rationales and containerized FastAPI microservices for ICU decision support.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Set A (20,336 admissions; 2,974 locked test, 12.4% prevalence) and BIDMC Set B (20,000; 7.57%); 34 variables: 8 vitals + 26 labs.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Isolation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0.00% patient overlap verified by SHA-256 audit; Set B used only as a single-pass external holdout.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decision-support tool — a real-time backend service, not an automated treatment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 intervention or automated therapy administration is intentionally excluded from this phase.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 and clinician-facing alerts with SHAP rationale: a silent screening tier plus an audible confirmation tier.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ingestion, containerized FastAPI / PostgreSQL / Redis backend and a React.js bedside alert dashboard.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System: AegisSepsis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separate physiology from the observation process, so each can be verified independently.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Signal Alignment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HL7-FHIR streams binned into 1-hour windows; sensor artifacts flagged, unmeasured variables causally initialized.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2104" y="2240280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Construction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Patient-relative Z-scores, 3 h velocity and 6 h acceleration from past data only (no lookahead).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" y="3227832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Observation Encoding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575304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M, time delta Δt and 12 h sampling count N are encoded separately from physiology.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" y="4215384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5628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Invariance-Regularized Prediction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562856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+ 0.15·L_inv forces identical risk when only the observation mask changes.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" y="5202936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55504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Dual-Tier Policy &amp; TreeSHAP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5550408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VAL_POL_0450 screening/confirmation tiers with TreeSHAP rationales on the bedside dashboard.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5349240"/>
          </a:xfrm>
          <a:prstGeom prst="roundRect">
            <a:avLst>
              <a:gd name="adj" fmla="val 855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003" y="1371600"/>
            <a:ext cx="8147688" cy="4854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&amp; Process Flow Diagrams</a:t>
            </a:r>
            <a:endParaRPr lang="en-US" sz="3000" dirty="0"/>
          </a:p>
        </p:txBody>
      </p:sp>
      <p:pic>
        <p:nvPicPr>
          <p:cNvPr id="3" name="Image 0" descr="/home/claude/assets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37" y="1143000"/>
            <a:ext cx="4426251" cy="2788920"/>
          </a:xfrm>
          <a:prstGeom prst="rect">
            <a:avLst/>
          </a:prstGeom>
        </p:spPr>
      </p:pic>
      <p:pic>
        <p:nvPicPr>
          <p:cNvPr id="4" name="Image 1" descr="/home/claude/assets/class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08" y="1143000"/>
            <a:ext cx="4509851" cy="2788920"/>
          </a:xfrm>
          <a:prstGeom prst="rect">
            <a:avLst/>
          </a:prstGeom>
        </p:spPr>
      </p:pic>
      <p:pic>
        <p:nvPicPr>
          <p:cNvPr id="5" name="Image 2" descr="/home/claude/assets/process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662" y="4160520"/>
            <a:ext cx="4000371" cy="2331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Survey: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landmark papers were reviewed, spanning early-warning scores, missingness modeling, causal transportability and explainability; 14 recent works (2024–2026) inform the design.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survey with title, merits and demerits for each paper is presented across the next three slides.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Observation-Exploiting Models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internal AUROC (TREWScore, GRU-D, BRITS) but overfit to site-specific ordering habits.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Shift-Robust &amp; Causal Methods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shift (causal invariance, COMPOSER) but discard signal or decouple only partially.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1–5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1–5)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TREWScore: A targeted real-time early warning score for septic shock (Henry et al., Sci Transl Med, 2015)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tree model outperforming static clinical rules; high early-warning discrimination.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measurement missingness; relies heavily on forward-fill imputation.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InSight: Prediction of sepsis in the ICU with minimal EHR data (Desautels et al., BMJ Open, 2016)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data requirements using continuous vital signs for bedside surveillance.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false-alarm rate under irregular sampling; overfits to high-frequency vitals.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MGP-RNN: Learning to detect sepsis early via a multi-output Gaussian process RNN (Futoma et al., ICML, 2017)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continuous multi-output Gaussian process trajectories to capture trend velocity.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Conflates biological trend velocity with clinical measurement sampling frequency.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GRU-D: Recurrent neural networks for multivariate time series with missing values (Che et al., Sci Rep,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explicit missingness decay masks (M, Δt) to improve internal AUROC.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to site-specific clinician ordering habits, causing severe transportability failure.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Sensing: Active sensing using multi-directional RNNs (Yoon et al., ICLR,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Active-sensing architecture highlighting predictive signals in observation patterns.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Treating ordering frequency as a shortcut predictor induces external dataset shift.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6–10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6–10)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BRITS: Bidirectional recurrent imputation for time series (Cao et al., NeurIPS, 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recurrent imputation with joint time-series representation learning.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features carry site-specific sampling bias across external hospitals.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DeepSOFA: A continuous longitudinal ML model for sepsis prediction (Shickel et al., Sci Rep,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sequential organ-failure score transitions for continuous risk assessment.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sensitivity to lab ordering intervals; needs frequent laboratory sampling.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Preventing failures due to dataset shift: Learning predictive models that transport (Subbaswamy et al., NeurIPS,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Formalizes causal graph invariance surgery to select shift-stable feature sub-graphs.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Discards valuable predictive features, causing substantial internal AUROC drops.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robustness in clinical ML: ICU mortality prediction (Nestor et al., AMIA, 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cross-institution performance decay (0.05 to 0.12 AUROC drop) across ICUs.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evaluation; offers no architectural decoupling mechanism.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local explanations to global understanding with explainable AI for trees – TreeSHAP (Lundberg et al., Nat Mach Intell,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exact Shapley feature attributions for tree-based models.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intensive; needs careful feature grouping to prevent leakage.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11–15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11–15)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prediction of sepsis in the ICU using ML: A systematic evaluation (Moor et al., MLHC,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standardized multi-center evaluation protocols for ICU sepsis warning.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evaluate performance under controlled measurement loss or perturbation.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COMPOSER: AI decision support system for sepsis (Shashikumar et al., npj Digit Med,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Time Since Last Measurement (TSLM) and conformal risk bounds.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decoupling; residual missingness shortcut learning remains under site shift.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correlation to causation: Dataset shift in ML (Subbaswamy &amp; Saria, NEJM AI,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that non-causal clinician ordering shortcuts cause AI transportability collapse.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formulation needing empirical validation on large multi-center cohorts.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PredictICU: Dynamic prediction of ICU outcomes under temporal confounding (Rocheteau et al., JAMIA,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dynamic patient outcomes under temporal confounding and irregular sampling.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deep architecture requiring extensive computational hardware to train.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Sepsis-3: Third International Consensus Definitions for Sepsis and Septic Shock (Singer et al., JAMA, 2016)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infection-driven organ dysfunction (SOFA change of 2 or more) as gold standard.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Chart-code dependencies and culture timestamps introduce minor ground-truth noise.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from 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 Ordering, Fail to Transport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GRU-D, BRITS, DeepSOFA and TREWScore gain internal AUROC from missingness patterns but overfit to site-specific lab ordering (Che 2018; Cao 2018).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Features, Lose Accuracy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44568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invariance surgery (Subbaswamy 2019) prevents shift but discards predictive features; COMPOSER only partially decouples (2021).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Measured, Not Fixed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57616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2019 and Subbaswamy &amp; Saria 2021 quantify 0.05–0.12 AUROC decay but give no architectural decoupling or stress tests.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623560"/>
            <a:ext cx="11155680" cy="594360"/>
          </a:xfrm>
          <a:prstGeom prst="roundRect">
            <a:avLst>
              <a:gd name="adj" fmla="val 7692"/>
            </a:avLst>
          </a:prstGeom>
          <a:solidFill>
            <a:srgbClr val="FFD9B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 prior method decouples physiology from the observation process with an invariance constraint — the gap AegisSepsis AI addresses.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(1/2): Representation &amp;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Decoupling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Patient-relative Z-scores with 3 h velocity and 6 h acceleration (backward only) are isolated from O = [M, Δt, N], so ordering habits cannot mimic deterioration.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Mask-Perturbation Invariance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+ 0.15·L_inv keeps all biological features, unlike node surgery whose internal AUROC fell from 0.789 to 0.705.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Tri-Fold Stress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0–80% (2.93x lower loss), same-physiology mask swap (3.00x smaller shift), density quartiles Q1–Q4 (60.0% less disparity).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(2/2): Deployment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Dual-Tier Policy with Hysteresis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VAL_POL_0450: silent τs=0.015, audible τc=0.300 with N=3 persistence and MAP gating — 64.2% fewer false alerts, 76.4% sensitivity, 88.2% specificity.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TreeSHAP Biological Verification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trajectory vs 38% observation weight over 118,960 windows; top drivers Vel_3h_MAP (+0.85), Acc_6h_Lactate (+1.12), Acc_6h_HR (+0.64).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Zero-Overlap External Holdout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BIDMC Set B (N=20,000), 0.00% overlap by SHA-256, no retraining or tuning: AUROC 0.7310, gap cut 30.52% (p=0.001).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Benchmark Comparison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vs Prior Art (External Benchmark)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047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Decoupling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AUROC · Transport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GRU-D (2018)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mask (M, Δt) as a direct predictor; no structural decoupling.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0.6850 · gap 0.0830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DeepSOFA (2019)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SOFA state; no decoupling of observation process.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0.6980 · gap 0.0760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COMPOSER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decoupling through a time-since-last-measurement mask.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0.7120 · gap 0.0680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Subbaswamy (2019)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surgery prunes features, lowering internal accuracy.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0.7050 · gap 0.0620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AegisSepsis Model F (Ours)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decoupling with invariance regularization; all features retained.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0.7310 · gap 0.0510 (30.52% lower)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&amp; Sepsis-3 Labeling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Set A (N=2,974) and BIDMC Set B (N=20,000); 0.00% patient overlap verified by SHA-256 audit.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Trajectory Representation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variables become causal Z-scores, 3 h velocity and 6 h acceleration using backward windows only.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Observation Encoding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vector O = [M, Δt, N]: availability mask, time since last observation, 12 h sampling count.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Invariance Backbone &amp; 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L_bce + λ·L_inv (λ=0.15); policy VAL_POL_0450 with 3-cycle persistence and MAP gating.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TreeSHAP &amp; External Stress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attribution; single-pass BIDMC holdout with dropout, mask-perturbation and density-quartile tests.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vitals and labs from EHR feeds via HL7/FHIR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into 1-hour windows; flag sensor artifacts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causal Z-score, velocity and acceleration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decoupled observation vector (M, Δt, 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 with the invariance-regularized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VAL_POL_0450 dual-tier alert policy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TreeSHAP attributions for every alert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052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risk trend and SHAP rationale on the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43000"/>
            <a:ext cx="5349240" cy="5166360"/>
          </a:xfrm>
          <a:prstGeom prst="roundRect">
            <a:avLst>
              <a:gd name="adj" fmla="val 1062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2.0 seconds end-to-end inference latency per patient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2679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to 500 concurrent ICU beds via Kubernetes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924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Trust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intuitive dashboard requiring no ML background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modular, containerized (Docker)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8188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HIPAA-compliant, TLS 1.3 encryption, no unhashed identifiers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</a:t>
            </a: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99.9% uptime with automated failover mechanisms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772400" cy="52303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React.js, WebSockets, Plotly.js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2.1, XGBoost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(unit &amp; integration)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(TreeSHAP)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Kafka, Pandas, 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A100 / RTX 4080 GPU, Ubuntu 22.04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234440"/>
            <a:ext cx="3108960" cy="5212080"/>
          </a:xfrm>
          <a:prstGeom prst="roundRect">
            <a:avLst>
              <a:gd name="adj" fmla="val 1765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882396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Snapshot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23960" y="21031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 are containerized with Docker and orchestrated via Kubernetes, scaling horizontally to monitor up to 500 active ICU beds with sub-2-second inference latency.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823960" y="4297680"/>
            <a:ext cx="2331720" cy="0"/>
          </a:xfrm>
          <a:prstGeom prst="line">
            <a:avLst/>
          </a:prstGeom>
          <a:noFill/>
          <a:ln w="12700">
            <a:solidFill>
              <a:srgbClr val="2E52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823960" y="4480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23960" y="4846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4080 / A100 GPU (16GB+ VRAM), Linux Ubuntu 22.04 LTS.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External Validation (BIDMC Set 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AUROC 0.7310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 vs 0.7161 baseline on N=20,000, zero retraining (95% CI 0.7180–0.7440).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Gap −30.52%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fell from 0.0734 to 0.0510 (p=0.001, FDR q=0.003, Cohen's d=0.620).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2.93x Lower Dropout 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40% measurement loss, AUROC loss 0.0090 vs 0.0264 (p&lt;0.001).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3.00x Smaller Shift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physiology, perturbed masks: Δp 0.0180 vs 0.0540 (p&lt;0.001, d=1.150).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60.0% Less Disparity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(Q1) vs dense (Q4) gap fell from 0.0775 to 0.0310 (p=0.001).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 / 38% SHAP Split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over 118,960 windows: 62% trajectory (Vel_3h_MAP, Acc_6h_Lactate) vs 38% observation weight.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Alert Policy VAL_POL_0450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1: PyTest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for Z-scores, velocity, masks, policy gating and API contracts.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2: Internal CV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Emory Set A (N=2,974); Set A AUROC 0.7820.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3: External Holdout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BIDMC Set B (N=20,000), 0.00% overlap, no retraining or tuning.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0–80%, same-physiology mask perturbation, density quartiles Q1–Q4.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Dual-Tier Policy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τs=0.015; audible τc=0.300 with 3-cycle persistence and MAP ≤75 / ΔMAP3 ≤ −3.0 gating.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Bedside 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64.2% fewer false alerts; sensitivity 76.4%, specificity 88.2%, PPV 28.5%, lead time 4.2 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(Fall 2026–27)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1–2: Survey &amp; Cohorts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Sepsis-3 labeling, Emory/BIDMC cohorts, zero-overlap audit — completed.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Causal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Z-scores, velocity/acceleration and observation vectors — completed.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4–5: Modeling &amp; Testing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training, Model A–F ablation, BIDMC holdout and stress tests — completed.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6–7: XAI &amp;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and policy simulation done; FastAPI / Docker dashboard in progress.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8: Final 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documentation and dissertation submission — planned.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decouples patient physiology from the clinical observation process. On an independent 20,000-patient external holdout with zero retraining, it cut the transportability gap by 30.52% (p=0.001, FDR q=0.003), lost 2.93x less AUROC at 40% missing data, and showed a 3.00x smaller shift under identical physiology.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Monitoring-density disparity fell by 60.0%, TreeSHAP attributed 62% of importance to physiological trajectories, and policy VAL_POL_0450 suppressed 64.2% of false alerts with a 4.2-hour median lead time and 76.4% sensitivity.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 of comparable systems (Boussina et al., 2024: 1.9% absolute mortality reduction) suggests similar safeguards can yield real patient benefit.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AegisSepsis AI shows that separating patient physiology from the clinical observation process improves cross-hospital transportability without sacrificing internal discrimination.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20,000-admission external cohort with zero retraining, the decoupled model cut the transport gap by 30.52% and was far more robust to missing measurements.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retrospective design, a single external center and a residual gap of 0.0510. Universal transportability is not claimed; prospective silent trials are the next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143000"/>
            <a:ext cx="5623560" cy="5349240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Bedside Integration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live clinical-trial evaluations across hospital ICUs to validate real-time alert efficacy and clinician workflow impact.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9992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Wearable Sensor Fusion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ingest high-frequency telemetry from non-invasive wearables (PPG, ECG, transcutaneous SpO2).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40325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Standardized API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open-source FHIR R4 microservices for plug-and-play integration into Epic, Cerner, and Oracle Health.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5065776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Federated Expansion
</a:t>
            </a: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federated knowledge-graph representation for collaborative model updates while preserving patient privacy.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Henry, N. Ingraham, and S. Saria, “A targeted real-time early warning score (TREWScore) for septic shock,” Sci. Transl. Med., vol. 7, no. 299, p. 299ra122, 2015.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Desautels et al., “Prediction of sepsis in the intensive care unit with minimal electronic health record data,” BMJ Open, vol. 6, no. 9, p. e012319, 2016.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Futoma, S. Hariharan, and K. Heller, “Learning to detect sepsis early via a multi-output Gaussian process RNN,” Proc. ICML, pp. 1174-1182, 2017.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Z. Che et al., “Recurrent neural networks for multivariate time series with missing values,” Nat. Sci. Rep., vol. 8, p. 6085,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Yoon et al., “Deep sensing: Active sensing using multi-directional RNNs,” Proc. ICLR,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W. Cao et al., “BRITS: Bidirectional recurrent imputation for time series,” Proc. NeurIPS, pp. 6775-6785, 2018.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B. Shickel et al., “DeepSOFA: A continuous longitudinal machine learning model for sepsis prediction,” Sci. Rep., vol. 9, p. 20371, 2019.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Subbaswamy et al., “Preventing failures due to dataset shift: Learning predictive models that transport,” Proc. NeurIPS, pp. 3173-3183, 2019.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076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B. Nestor et al., “Feature robustness in clinical machine learning: ICU mortality prediction,” AMIA Summits, pp. 156-165, 2019.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S. M. Lundberg et al., “From local explanations to global understanding with explainable AI for trees,” Nat. Mach. Intell., vol. 2, pp. 56-67, 2020.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Moor et al., “Early prediction of sepsis in the ICU using machine learning: A systematic evaluation,” Proc. MLHC, pp. 420-445,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S. P. Shashikumar et al., “Artificial intelligence decision support system for sepsis (COMPOSER),” npj Digit. Med., vol. 4, p. 123,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Subbaswamy and S. Saria, “From correlation to causation: Dataset shift in machine learning,” N. Engl. J. Med. AI, vol. 385, pp. 1630-1631,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E. Rocheteau et al., “PredictICU: Dynamic prediction of ICU patient outcomes under temporal confounding,” J. Am. Med. Inform. Assoc., vol. 28, pp. 2650-2660, 2021.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M. Singer et al., “The Third International Consensus Definitions for Sepsis and Septic Shock (Sepsis-3),” JAMA, vol. 315, no. 8, pp. 801-810, 2016.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29 references is provided in the Review-2 report.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3894</Words>
  <Application>Microsoft Office PowerPoint</Application>
  <PresentationFormat>Widescreen</PresentationFormat>
  <Paragraphs>434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sudhanshu Jha</cp:lastModifiedBy>
  <cp:revision>3</cp:revision>
  <dcterms:created xsi:type="dcterms:W3CDTF">2026-08-13T06:57:40Z</dcterms:created>
  <dcterms:modified xsi:type="dcterms:W3CDTF">2026-10-05T19:55:21Z</dcterms:modified>
</cp:coreProperties>
</file>