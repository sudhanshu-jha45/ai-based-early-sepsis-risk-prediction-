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8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  <Relationship Id="rId28" Type="http://schemas.openxmlformats.org/officeDocument/2006/relationships/slide" Target="slides/slide2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0A2120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429000"/>
            <a:ext cx="502920" cy="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9189720" y="2834640"/>
            <a:ext cx="182880" cy="59436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834640"/>
            <a:ext cx="182880" cy="141732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555480" y="2148840"/>
            <a:ext cx="182880" cy="210312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38360" y="2148840"/>
            <a:ext cx="228600" cy="128016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66960" y="3429000"/>
            <a:ext cx="1828800" cy="0"/>
          </a:xfrm>
          <a:prstGeom prst="line">
            <a:avLst/>
          </a:prstGeom>
          <a:noFill/>
          <a:ln w="31750">
            <a:solidFill>
              <a:srgbClr val="EF9C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3337560"/>
            <a:ext cx="182880" cy="182880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0" name="Shape 8"/>
          <p:cNvSpPr/>
          <p:nvPr/>
        </p:nvSpPr>
        <p:spPr>
          <a:xfrm>
            <a:off x="8732520" y="1005840"/>
            <a:ext cx="109728" cy="109728"/>
          </a:xfrm>
          <a:prstGeom prst="ellipse">
            <a:avLst/>
          </a:prstGeom>
          <a:solidFill>
            <a:srgbClr val="9FC2BE"/>
          </a:solidFill>
          <a:ln/>
        </p:spPr>
      </p:sp>
      <p:sp>
        <p:nvSpPr>
          <p:cNvPr id="11" name="Shape 9"/>
          <p:cNvSpPr/>
          <p:nvPr/>
        </p:nvSpPr>
        <p:spPr>
          <a:xfrm>
            <a:off x="11521440" y="5486400"/>
            <a:ext cx="146304" cy="146304"/>
          </a:xfrm>
          <a:prstGeom prst="ellipse">
            <a:avLst/>
          </a:prstGeom>
          <a:solidFill>
            <a:srgbClr val="FFD9B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0" y="5029200"/>
            <a:ext cx="82296" cy="82296"/>
          </a:xfrm>
          <a:prstGeom prst="ellipse">
            <a:avLst/>
          </a:prstGeom>
          <a:solidFill>
            <a:srgbClr val="9FC2B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48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Engineering and Information Systems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9601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PMCA698J — DISSERTATION-I / INTERNSHIP-1  |  REVIEW 1  |  FALL SEMESTER 2026–27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173736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Sepsis Prediction in Intensive Care Units Using Explainable Deep Learning and Multimodal Data Representation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Sub-brand: SepsisSense 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Sudhanshu Kumar Jha  —  25MCA0181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Sweta Bhattacharya
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3619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" y="14081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15798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2029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779776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401568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0" name="Text 8"/>
          <p:cNvSpPr/>
          <p:nvPr/>
        </p:nvSpPr>
        <p:spPr>
          <a:xfrm>
            <a:off x="941832" y="3273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4023360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2" name="Text 10"/>
          <p:cNvSpPr/>
          <p:nvPr/>
        </p:nvSpPr>
        <p:spPr>
          <a:xfrm>
            <a:off x="941832" y="3895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464515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4" name="Text 12"/>
          <p:cNvSpPr/>
          <p:nvPr/>
        </p:nvSpPr>
        <p:spPr>
          <a:xfrm>
            <a:off x="941832" y="4517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526694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" y="5138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888736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" y="5760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153619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20" name="Text 18"/>
          <p:cNvSpPr/>
          <p:nvPr/>
        </p:nvSpPr>
        <p:spPr>
          <a:xfrm>
            <a:off x="6565392" y="14081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09360" y="215798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20299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2779776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24" name="Text 22"/>
          <p:cNvSpPr/>
          <p:nvPr/>
        </p:nvSpPr>
        <p:spPr>
          <a:xfrm>
            <a:off x="6565392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3401568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92" y="3273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09360" y="4023360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3895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9360" y="4645152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30" name="Text 28"/>
          <p:cNvSpPr/>
          <p:nvPr/>
        </p:nvSpPr>
        <p:spPr>
          <a:xfrm>
            <a:off x="6565392" y="4517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9360" y="5266944"/>
            <a:ext cx="82296" cy="82296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32" name="Text 30"/>
          <p:cNvSpPr/>
          <p:nvPr/>
        </p:nvSpPr>
        <p:spPr>
          <a:xfrm>
            <a:off x="6565392" y="5138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69494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is a life-threatening dysregulated host response to infection, leading to systemic inflammation and multi-organ dysfunction. Its clinical management is highly time-sensitive, making early detection and warning systems essential in critical care.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 robust deep learning framework for early sepsis prediction. By combining structured EHR data with unstructured clinical notes (SepsisDRM-style multimodal representation), the model captures clinical context that traditional systems overlook. Temporal Convolutional Networks and a Kernel Attention Transformer (KA-Transformer) model long-range dependencies, while conformal prediction and active sensing quantify uncertainty and recommend informative measurements.</a:t>
            </a: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endParaRPr lang="en-US" sz="13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explainable AI (SHAP) provides transparent, feature-level rationales, bridging the gap between deep learning complexity and clinical trust. The system will be evaluated on benchmark cohorts such as MIMIC-Sepsis to ensure generalizability under distribution shift.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5806440"/>
            <a:ext cx="6949440" cy="777240"/>
          </a:xfrm>
          <a:prstGeom prst="rect">
            <a:avLst/>
          </a:prstGeom>
          <a:solidFill>
            <a:srgbClr val="F9EEE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587044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Prediction, Explainable AI, Deep Learning, Temporal Transformer, Conformal Prediction, Multimodal Representation.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23332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12527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955280" y="20756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global deaths occur due to sepsis annually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29260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E5250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303580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955280" y="38587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mortality per hour of delayed antibiotics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47091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48188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6–12 hrs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955280" y="56418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warning targeted by this project's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502152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" y="14356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5636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of the Challenge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04088" y="22219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accounts for roughly 20% of global deaths annually; mortality rises by up to 7.6% for every hour antibiotics and fluid resuscitation are delayed.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33672" y="1234440"/>
            <a:ext cx="3502152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</p:sp>
      <p:sp>
        <p:nvSpPr>
          <p:cNvPr id="8" name="Shape 6"/>
          <p:cNvSpPr/>
          <p:nvPr/>
        </p:nvSpPr>
        <p:spPr>
          <a:xfrm>
            <a:off x="4434840" y="14356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5636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Traditional Surveillance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34840" y="22219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EHR-based ML surveillance tools score risk from vitals and labs alone, ignoring the rich clinical context captured in nursing and progress notes.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64424" y="1234440"/>
            <a:ext cx="3502152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</p:sp>
      <p:sp>
        <p:nvSpPr>
          <p:cNvPr id="12" name="Shape 10"/>
          <p:cNvSpPr/>
          <p:nvPr/>
        </p:nvSpPr>
        <p:spPr>
          <a:xfrm>
            <a:off x="8165592" y="14356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8165592" y="1563624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in Deep Sequence Models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165592" y="22219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LSTMs and Transformers capture temporal patterns well, but remain black-boxes clinicians hesitate to trust without an interpretable rationale.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5344668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" y="39502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4078224"/>
            <a:ext cx="4942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Single-Modality, Overconfident Alerts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4088" y="4736592"/>
            <a:ext cx="49423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model structured or textual data alone and rarely quantify their own uncertainty, so they alert confidently even on sparse, ambiguous cases.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1908" y="3749040"/>
            <a:ext cx="5344668" cy="2240280"/>
          </a:xfrm>
          <a:prstGeom prst="roundRect">
            <a:avLst>
              <a:gd name="adj" fmla="val 2449"/>
            </a:avLst>
          </a:prstGeom>
          <a:solidFill>
            <a:srgbClr val="F9EEE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3076" y="3950208"/>
            <a:ext cx="457200" cy="54864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21" name="Text 19"/>
          <p:cNvSpPr/>
          <p:nvPr/>
        </p:nvSpPr>
        <p:spPr>
          <a:xfrm>
            <a:off x="6323076" y="4078224"/>
            <a:ext cx="4942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Approach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23076" y="4736592"/>
            <a:ext cx="49423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fuses structured EHR and clinical text through a shared multimodal embedding, models sequences with a KA-Transformer, and wraps every output in conformal prediction and SHAP-based explanation.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sepsis prediction systems face critical challenges that limit real-world deployment: ICU time-series data is sparsely and irregularly sampled, and imputing missing values introduces uncertainty that propagates into false alerts. Sepsis cases represent a small minority of ICU admissions, so models trained on imbalanced data often suffer from low sensitivity or high false-alarm rates.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architectures such as Transformers and BiLSTMs behave as black boxes, making clinicians hesitant to trust their alerts without interpretable rationales. Models trained on single-center datasets also fail to generalize across institutions due to differences in demographics, equipment, and clinical practice.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4160520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F9EEE7"/>
          </a:solidFill>
          <a:ln w="12700">
            <a:solidFill>
              <a:srgbClr val="9FC2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3434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429768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b="1" i="1" dirty="0">
                <a:solidFill>
                  <a:srgbClr val="123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needed that jointly fuses structured and textual clinical data, quantifies its own predictive uncertainty rather than alerting blindly, and explains every alert — while remaining robust across different ICU sites.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Temporal Modeling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KA-Transformer + TCN model to predict sepsis onset 6–12 hours in advance.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5968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315968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Embedding (SepsisDRM)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15968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encode structured EHR variables and clinical notes into a shared representation space.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9016" y="12801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129016" y="1965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Conformal Uncertainty Layer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29016" y="265176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conformal prediction so the model can flag low-confidence patients as indeterminate instead of false-alarming.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02920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Integration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2920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and attention visualization to give clinicians transparent, feature-level rationales.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5968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315968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Validation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315968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adapt the system across MIMIC-IV and eICU cohorts under distribution shift.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29016" y="3840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129016" y="45262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Sensing &amp; Deployment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129016" y="52120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most informative next lab test and package the pipeline as containerized microservices.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Scope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MIMIC-IV and eICU cohorts: 250,000+ patient stays, 8 high-frequency vitals, and 26 intermittent lab measurements.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15968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</p:sp>
      <p:sp>
        <p:nvSpPr>
          <p:cNvPr id="7" name="Text 5"/>
          <p:cNvSpPr/>
          <p:nvPr/>
        </p:nvSpPr>
        <p:spPr>
          <a:xfrm>
            <a:off x="4544568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44568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shift assessments, progress notes, and radiology reports, parsed via domain-adapted Clinical-BERT embeddings.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29016" y="12801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9EEE7"/>
          </a:solidFill>
          <a:ln/>
        </p:spPr>
      </p:sp>
      <p:sp>
        <p:nvSpPr>
          <p:cNvPr id="10" name="Text 8"/>
          <p:cNvSpPr/>
          <p:nvPr/>
        </p:nvSpPr>
        <p:spPr>
          <a:xfrm>
            <a:off x="8357616" y="1508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Role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57616" y="2103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 decision-support tool — a real-time backend service, not an automated treatment system.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treatment intervention or automated therapy administration is intentionally excluded from this phase.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15968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</p:sp>
      <p:sp>
        <p:nvSpPr>
          <p:cNvPr id="16" name="Text 14"/>
          <p:cNvSpPr/>
          <p:nvPr/>
        </p:nvSpPr>
        <p:spPr>
          <a:xfrm>
            <a:off x="4544568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Integration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44568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Nurse- and clinician-facing dashboard alerts, with an active-sensing module recommending informative lab tests.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9016" y="384048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123332"/>
          </a:solidFill>
          <a:ln/>
        </p:spPr>
      </p:sp>
      <p:sp>
        <p:nvSpPr>
          <p:cNvPr id="19" name="Text 17"/>
          <p:cNvSpPr/>
          <p:nvPr/>
        </p:nvSpPr>
        <p:spPr>
          <a:xfrm>
            <a:off x="8357616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Design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7616" y="46634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FastAPI/PostgreSQL/Redis backend paired with a React.js bedside alert dashboard.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System: SepsisSense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 a five-stage pipeline, not a single end-to-end model, so each reasoning stage can be verified independently.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 &amp; Preprocessing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00600" y="1600200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Vitals, labs, and notes are ingested, binned into 1-hour windows, and imputed via forward-fill / median.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32104" y="2240280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660904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60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5877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Embedding (SepsisDRM)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587752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tabular MLP and Clinical-BERT encoder align structured and textual data into a shared 256-d embedding space.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" y="3227832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3648456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57530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Modeling Core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3575304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TCN captures short-term dynamics while the KA-Transformer models long-range dependencies in O(T) time.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2104" y="4215384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4636008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636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56285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Conformal &amp; Active-Sensing 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4562856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scores flag high-variance patients as indeterminate; active sensing recommends the next lab test.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" y="5202936"/>
            <a:ext cx="0" cy="347472"/>
          </a:xfrm>
          <a:prstGeom prst="line">
            <a:avLst/>
          </a:prstGeom>
          <a:noFill/>
          <a:ln w="19050">
            <a:solidFill>
              <a:srgbClr val="9FC2B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5623560"/>
            <a:ext cx="566928" cy="566928"/>
          </a:xfrm>
          <a:prstGeom prst="ellipse">
            <a:avLst/>
          </a:prstGeom>
          <a:solidFill>
            <a:srgbClr val="12333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623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55504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XAI &amp; Clinician 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5550408"/>
            <a:ext cx="6903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and attention maps are rendered on a real-time bedside advisory interface.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1155680" cy="5349240"/>
          </a:xfrm>
          <a:prstGeom prst="roundRect">
            <a:avLst>
              <a:gd name="adj" fmla="val 855"/>
            </a:avLst>
          </a:prstGeom>
          <a:solidFill>
            <a:srgbClr val="F9EEE7"/>
          </a:solidFill>
          <a:ln/>
        </p:spPr>
      </p:sp>
      <p:pic>
        <p:nvPicPr>
          <p:cNvPr id="4" name="Image 0" descr="/home/claude/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2003" y="1371600"/>
            <a:ext cx="8147688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&amp; Process Flow Diagrams</a:t>
            </a:r>
            <a:endParaRPr lang="en-US" sz="3000" dirty="0"/>
          </a:p>
        </p:txBody>
      </p:sp>
      <p:pic>
        <p:nvPicPr>
          <p:cNvPr id="3" name="Image 0" descr="/home/claude/assets/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637" y="1143000"/>
            <a:ext cx="4426251" cy="2788920"/>
          </a:xfrm>
          <a:prstGeom prst="rect">
            <a:avLst/>
          </a:prstGeom>
        </p:spPr>
      </p:pic>
      <p:pic>
        <p:nvPicPr>
          <p:cNvPr id="4" name="Image 1" descr="/home/claude/assets/class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08" y="1143000"/>
            <a:ext cx="4509851" cy="2788920"/>
          </a:xfrm>
          <a:prstGeom prst="rect">
            <a:avLst/>
          </a:prstGeom>
        </p:spPr>
      </p:pic>
      <p:pic>
        <p:nvPicPr>
          <p:cNvPr id="5" name="Image 2" descr="/home/claude/assets/process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662" y="4160520"/>
            <a:ext cx="4000371" cy="23317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Survey: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peer-reviewed and preprint sources were reviewed, spanning uncertainty quantification, multimodal representation learning, temporal transformer architectures, conformal prediction, and real-world clinical deployment of sepsis prediction systems specifically.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survey with title, year, merits, and demerits for each paper is presented across the next three slides in table format.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5349240" cy="2651760"/>
          </a:xfrm>
          <a:prstGeom prst="roundRect">
            <a:avLst>
              <a:gd name="adj" fmla="val 2414"/>
            </a:avLst>
          </a:prstGeom>
          <a:solidFill>
            <a:srgbClr val="1233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Uncertainty-Aware &amp; Trustworthy Systems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reducing false alarms and abstaining on low-confidence cases, but weaker at fusing multimodal clinical context.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880360"/>
            <a:ext cx="5349240" cy="2651760"/>
          </a:xfrm>
          <a:prstGeom prst="roundRect">
            <a:avLst>
              <a:gd name="adj" fmla="val 2414"/>
            </a:avLst>
          </a:prstGeom>
          <a:solidFill>
            <a:srgbClr val="123332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34747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&amp; Representation Learning Systems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43434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capturing rich structured and textual clinical context, but weaker at communicating prediction confidence.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Papers 1–5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(Papers 1–5)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25780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3657600"/>
                <a:gridCol w="3657600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Yin et al. (2024) — SepsisLab: Uncertainty Quantification and Active Sensing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Quantifies imputation-driven uncertainty; active sensing suggests high-value labs; validated on 3 cohorts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real-time clinician interaction; bounded by underlying imputation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 et al. (2025) — MEET-Sepsis: Multi-View Time-Series Representation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weak early signals; cuts required ICU observation time by 80% at high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Multi-view learning adds computational overhead; evaluation limited to standard datasets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Huang et al. (2025) — MIMIC-Sepsis: Curated Benchmark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open benchmark with treatment variables; standardized Sepsis-3 preprocessing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Retrospective cohort subject to historical treatment-protocol bias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 et al. (2026) — Federated Learning with Knowledge Graph &amp; Temporal Transformer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Preserves privacy via federated learning; meta-learning adapts fast to local hospitals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communication overhead; aligning heterogeneous medical knowledge graphs is non-trivial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 Mansoor et al. (2026) — Self-Supervised (JEPA) &amp; Federated Representation Learning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accuracy with 83% fewer biomarkers; temporally persistent pre-trained 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heavily on pre-training quality; representation degrades over long horizons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Papers 6–10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(Papers 6–10)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25780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3657600"/>
                <a:gridCol w="3657600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Oliveira et al. (2026) — Responsible AI for Sepsis Prediction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bridges black-box predictions and clinical trust; XGBoost AUROC 0.874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is computationally expensive in real time; no unstructured text incorporated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et al. (2026) — Lightweight LLMs via Semantic Abstraction Rule Engine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Translates data to natural language; fine-tuned LLM (Gemma-2-9B) reaches 0.93 AUC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compute even for lightweight LLMs; rule engine needs manual expert tuning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Mahmoud et al. (2026) — Explainable Deep Learning for Early Sepsis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 0.959; compares 12 architectures; robust to imbalance and missingness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BiLSTM/TCN remain opaque, requiring external post-hoc XAI 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Shashikumar et al. (2021) — AI Learns to Say 'I Don't Know'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low-confidence cases 'indeterminate'; conformal prediction gives statistical guarantees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outputs need extra screening; conformal math is hard for clinicians to interpret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Boussina et al. (2024) — Impact of a Deep Learning Sepsis Model on Care &amp; Survival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prospective clinical impact: 1.9% absolute mortality reduction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Quasi-experimental design may be confounded; nurse-facing alerts can cause fatigue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Papers 11–15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(Papers 11–15)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70432"/>
          <a:ext cx="11155680" cy="525780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3657600"/>
                <a:gridCol w="3657600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&amp;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Demerits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Shashikumar et al. (2025) — LLM-Based Sepsis Prediction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structured EHR with clinical notes; prospectively validated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inference latency and hardware cost; privacy concerns with clinical 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Tranchellini et al. (2026) — Deep Learning Sepsis Models Under Distribution Shift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Evaluates 3 multi-center datasets; shows fine-tuning underperforms retraining/DA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Retrospective study; domain adaptation needs labeled target-site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Liu et al. (2026) — Multimodal Embedding Model for Sepsis (SepsisDRM)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dedicated sepsis embedding model; generalizes without task-specific tuning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Resource-intensive pre-training; depends on high-quality paired notes and tabular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Zhu et al. (2025) — KA-Transformer for Early Sepsis Prediction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attention cuts parameters/compute; 92.3–96.1% accuracy at 1–12h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long continuous observation windows; slight degradation at longer horizons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Taparugssanagorn et al. (2026) — Heterogeneous ICU Data with Explainable DL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SOTA architectures; dual explainability (SHAP + attention); tests distribution shift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Minority-class F1 (0.454) remains low under extreme class imbalance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from Literature Survey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&amp; Confidence Without Full Context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on conformal prediction, active sensing, and 'indeterminate' outputs (Yin et al. 2024; Shashikumar et al. 2021) reduce false alarms and quantify uncertainty — but do not fuse multimodal clinical text.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15968" y="12344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123332"/>
          </a:solidFill>
          <a:ln/>
        </p:spPr>
      </p:sp>
      <p:sp>
        <p:nvSpPr>
          <p:cNvPr id="7" name="Text 5"/>
          <p:cNvSpPr/>
          <p:nvPr/>
        </p:nvSpPr>
        <p:spPr>
          <a:xfrm>
            <a:off x="4544568" y="1508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Representation Without Built-in Confidence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44568" y="26060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on multimodal embedding, LLM-based, and federated knowledge-graph approaches (Liu et al. 2026; Shashikumar et al. 2025; Chang et al. 2026) capture richer clinical context, but rarely say when they are unsure.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29016" y="1234440"/>
            <a:ext cx="3611880" cy="411480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</p:sp>
      <p:sp>
        <p:nvSpPr>
          <p:cNvPr id="10" name="Text 8"/>
          <p:cNvSpPr/>
          <p:nvPr/>
        </p:nvSpPr>
        <p:spPr>
          <a:xfrm>
            <a:off x="8357616" y="15087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Architectures, Fragmented Evaluation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357616" y="260604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on the KA-Transformer, MEET-Sepsis, and distribution-shift studies (Zhu et al. 2025; Tan et al. 2025; Tranchellini et al. 2026) deliver strong modeling or benchmarking — but each addresses only one piece of the problem.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5623560"/>
            <a:ext cx="11155680" cy="594360"/>
          </a:xfrm>
          <a:prstGeom prst="roundRect">
            <a:avLst>
              <a:gd name="adj" fmla="val 7692"/>
            </a:avLst>
          </a:prstGeom>
          <a:solidFill>
            <a:srgbClr val="FFD9B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123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This is the specific gap the proposed system addresses.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 Multimodal Fusion Instead of Fragmented Modalities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EHR and clinical notes are fused into one SepsisDRM-style shared embedding, rather than modeled separately as most prior work does.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</p:sp>
      <p:sp>
        <p:nvSpPr>
          <p:cNvPr id="8" name="Text 6"/>
          <p:cNvSpPr/>
          <p:nvPr/>
        </p:nvSpPr>
        <p:spPr>
          <a:xfrm>
            <a:off x="4544568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Calibrated, Explainable Alerts Instead of Black Boxes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44568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prediction is combined with dual XAI (SHAP + attention), so every alert carries both a confidence bound and a rationale.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29016" y="13716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F9EEE7"/>
          </a:solidFill>
          <a:ln/>
        </p:spPr>
      </p:sp>
      <p:sp>
        <p:nvSpPr>
          <p:cNvPr id="12" name="Text 10"/>
          <p:cNvSpPr/>
          <p:nvPr/>
        </p:nvSpPr>
        <p:spPr>
          <a:xfrm>
            <a:off x="8357616" y="1600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9FC2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57616" y="23774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Sensing &amp; Cross-Site Robustness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57616" y="37033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recommends the next informative lab test and is explicitly validated and adapted across MIMIC-IV and eICU under distribution shift.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Extraction &amp; Sepsis-3 Labeling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patient trajectories from MIMIC-IV and eICU using Sepsis-3 criteria (suspected infection + acute SOFA increase ≥2).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315968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5968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Feature Engineering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5968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binning, forward-fill / median imputation, missingness indicators, and min-max normalization.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9016" y="1280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29016" y="1783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Representation (SepsisDRM)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9016" y="246888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alignment of a tabular MLP and Clinical-BERT encoder into a shared 256-dimensional embedding space.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Modeling, Conformal Layer &amp; XAI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1206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 + KA-Transformer predict risk; conformal prediction flags indeterminate cases; SHAP and attention explain alerts.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4434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Domain Adaptation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51206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MIMIC-IV → eICU transfer and apply MMD-based domain adaptation using a small target-site cohort.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vitals, labs, and clinical text via HL7/FHIR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measurements into 1-hour windows with imputation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EHR + notes into a shared multimodal embedding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91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sepsis risk 6–12 hours ahead (TCN + KA-Transformer)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5935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high-variance predictions as indeterminate (95% coverage)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0799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most informative next lab test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5663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937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SHAP attributions and attention maps for alerts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605272"/>
            <a:ext cx="73152" cy="73152"/>
          </a:xfrm>
          <a:prstGeom prst="ellipse">
            <a:avLst/>
          </a:prstGeom>
          <a:solidFill>
            <a:srgbClr val="EF9C8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alerts on a clinician advisory 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143000"/>
            <a:ext cx="5349240" cy="5166360"/>
          </a:xfrm>
          <a:prstGeom prst="roundRect">
            <a:avLst>
              <a:gd name="adj" fmla="val 1062"/>
            </a:avLst>
          </a:prstGeom>
          <a:solidFill>
            <a:srgbClr val="123332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29400" y="1965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under 2.0 seconds end-to-end inference latency per patient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267919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scales to 500 concurrent ICU beds via Kubernetes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339242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&amp; Trust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intuitive dashboard requiring no ML background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9400" y="410565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modular, containerized (Docker) architecture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481888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HIPAA-compliant, TLS 1.3 encryption, no unhashed identifiers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5532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99.9% uptime with automated failover mechanisms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7772400" cy="5212080"/>
        </p:xfrm>
        <a:graphic>
          <a:graphicData uri="http://schemas.openxmlformats.org/drawingml/2006/table">
            <a:tbl>
              <a:tblPr/>
              <a:tblGrid>
                <a:gridCol w="2926080"/>
                <a:gridCol w="4846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Uvicorn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React.js, WebSockets, Plotly.js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2.2, PyTorch Lightning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&amp; Text Embedding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Transformers, Clinical-BERT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SHAP, Captum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Streaming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Kafka, Apache Spark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&amp; Caching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Kubernetes, Helm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3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3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A100 / RTX 4080 GPU, Ubuntu 22.04 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EE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549640" y="1234440"/>
            <a:ext cx="3108960" cy="5212080"/>
          </a:xfrm>
          <a:prstGeom prst="roundRect">
            <a:avLst>
              <a:gd name="adj" fmla="val 1765"/>
            </a:avLst>
          </a:prstGeom>
          <a:solidFill>
            <a:srgbClr val="123332"/>
          </a:solidFill>
          <a:ln/>
        </p:spPr>
      </p:sp>
      <p:sp>
        <p:nvSpPr>
          <p:cNvPr id="5" name="Text 2"/>
          <p:cNvSpPr/>
          <p:nvPr/>
        </p:nvSpPr>
        <p:spPr>
          <a:xfrm>
            <a:off x="882396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Snapshot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823960" y="2103120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microservices are containerized with Docker and orchestrated via Kubernetes, scaling horizontally to monitor up to 500 active ICU beds with sub-2-second inference latency.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823960" y="4297680"/>
            <a:ext cx="2331720" cy="0"/>
          </a:xfrm>
          <a:prstGeom prst="line">
            <a:avLst/>
          </a:prstGeom>
          <a:noFill/>
          <a:ln w="12700">
            <a:solidFill>
              <a:srgbClr val="2E52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23960" y="4480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Environment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823960" y="48463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4080 / A100 GPU (16GB+ VRAM), Linux Ubuntu 22.04 LTS.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an innovative framework for early sepsis prediction in ICUs that directly addresses the real-world barriers of data missingness, clinical trust, and distribution shift.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structured EHR variables with unstructured textual notes in a multimodal embedding space, and using a KA-Transformer for sequential patterns, the system achieves superior early-warning capability. Integrating conformal prediction and explainable AI ensures clinicians receive reliable, transparent, low-false-alarm predictions, enhancing clinical utility and patient survival rates in intensive care units.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clinical validation of comparable deployed alert systems has demonstrated measurable improvements in patient outcomes beyond academic benchmarks, reinforcing the real-world value of this direction.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SepsisSense AI aims to bridge the gap between reliable multimodal clinical perception and transparent, trustworthy early-warning generation for ICU patients.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 is to verify structured evidence first, and only then let the model speak — grounding every alert in fused data, calibrated confidence, and an explainable rationale.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layered and modular — explainable, testable at each stage, and realistic to build within the scope of a dissertation project — while leaving room for future extensions such as continuous monitoring and edge deployment.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0" y="1143000"/>
            <a:ext cx="5623560" cy="5349240"/>
          </a:xfrm>
          <a:prstGeom prst="roundRect">
            <a:avLst>
              <a:gd name="adj" fmla="val 1026"/>
            </a:avLst>
          </a:prstGeom>
          <a:solidFill>
            <a:srgbClr val="123332"/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371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55080" y="19659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Bedside Integration
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live clinical-trial evaluations across hospital ICUs to validate real-time alert efficacy and clinician workflow impact.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299923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Wearable Sensor Fusion
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pipeline to ingest high-frequency telemetry from non-invasive wearables (PPG, ECG, transcutaneous SpO2).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4032504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 Standardized API
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open-source FHIR R4 microservices for plug-and-play integration into Epic, Cerner, and Oracle Health.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5065776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F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Multi-Center Federated Expansion
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federated knowledge-graph representation for collaborative model updates while preserving patient privacy.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537784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Yin, C., Chen, P. Y., Yao, B., Wang, D., Caterino, J., &amp; Zhang, P. (2024). SepsisLab: Early Sepsis Prediction with Uncertainty Quantification and Active Sensing. Proceedings of the ACM SIGKDD International Conference on Knowledge Discovery and Data Mining, 2024.</a:t>
            </a:r>
            <a:endParaRPr lang="en-US" sz="900" dirty="0"/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Tan, Z., Xie, T., Sun, B., Zhang, X., Zhang, Y., &amp; Cheung, Y. M. (2025). MEET-Sepsis: Multi-Endogenous-View Enhanced Time-Series Representation Learning for Early Sepsis Prediction. arXiv preprint arXiv:2510.15985.</a:t>
            </a:r>
            <a:endParaRPr lang="en-US" sz="900" dirty="0"/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Huang, Y., Yang, Z., &amp; Rahmani, A. (2025). MIMIC-Sepsis: A Curated Benchmark for Modeling and Learning from Sepsis Trajectories in the ICU. IEEE Journal of Biomedical and Health Informatics, 2025.</a:t>
            </a:r>
            <a:endParaRPr lang="en-US" sz="900" dirty="0"/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Chang, Y., Lin, G., Chuang, J. J., Liu, S., Li, X., &amp; Li, Y. (2026). A federated learning framework with knowledge graph and temporal transformer for early sepsis prediction in multi-center ICUs. npj Digital Medicine, 2026.</a:t>
            </a:r>
            <a:endParaRPr lang="en-US" sz="900" dirty="0"/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bin Mansoor, U., Rashid, M., &amp; Naqvi, R. (2026). A Framework for Early Sepsis Prediction via Self-Supervised (JEPA) and Federated Representation Learning. IEEE Transactions on Biomedical Engineering, 2026.</a:t>
            </a:r>
            <a:endParaRPr lang="en-US" sz="900" dirty="0"/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Oliveira, T. Q., Carvalho, L. A., Sousa, F. R. C., Filho, J. B. F., Oliveira, K. F., &amp; Tavares, D. A. B. (2026). Responsible AI for Sepsis Prediction: Bridging the Gap Between Machine Learning Performance and Clinical Trust. Journal of Clinical Medicine, 15(2), 2251.</a:t>
            </a:r>
            <a:endParaRPr lang="en-US" sz="900" dirty="0"/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Yang, Y., Yi, B., &amp; Chen, Y. (2026). Lightweight large language models for early sepsis prediction via a semantic abstraction rule engine. Scientific Reports, 16, 2026.</a:t>
            </a:r>
            <a:endParaRPr lang="en-US" sz="900" dirty="0"/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Mahmoud, A., Abdelmoreed, H., Amir, H., Ehab, M., Abdelfattah, R., &amp; HadHoud, M. (2026). Explainable deep learning for early sepsis detection from ICU time-series data using XAI techniques. Scientific Reports, 16, 23217.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80760" y="1234440"/>
            <a:ext cx="537784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Shashikumar, S. P., Wardi, G., Malhotra, A., &amp; Nemati, S. (2021). Artificial intelligence sepsis prediction algorithm learns to say “I don’t know”. npj Digital Medicine, 4, 134.</a:t>
            </a:r>
            <a:endParaRPr lang="en-US" sz="900" dirty="0"/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Boussina, A., Shashikumar, S. P., Malhotra, A., Owens, R. L., El-Kareh, R., Longhurst, C. A., &amp; Wardi, G. (2024). Impact of a deep learning sepsis prediction model on quality of care and survival. npj Digital Medicine, 7, 14.</a:t>
            </a:r>
            <a:endParaRPr lang="en-US" sz="900" dirty="0"/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Shashikumar, S. P., Mohammadi, S., Krishnamoorthy, R., Patel, A., Wardi, G., Ahn, J. C., &amp; Nemati, S. (2025). Development and prospective implementation of a large language model based system for early sepsis prediction. npj Digital Medicine, 8, 1689.</a:t>
            </a:r>
            <a:endParaRPr lang="en-US" sz="900" dirty="0"/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Tranchellini, F., Farag, Y., Jutzeler, C., &amp; Meegahapola, L. (2026). Evaluating deep learning sepsis prediction models in ICUs under distribution shift: a multi-centre retrospective cohort study. npj Digital Medicine, 9, 2364.</a:t>
            </a:r>
            <a:endParaRPr lang="en-US" sz="900" dirty="0"/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Liu, T., Li, Y., Chen, H., Li, N., Zhang, Y., Huang, X., &amp; Zhang, Z. (2026). A multimodal embedding model for sepsis data representation. npj Digital Medicine, 9, 2446.</a:t>
            </a:r>
            <a:endParaRPr lang="en-US" sz="900" dirty="0"/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Zhu, Y., Cheng, Y., Zhang, T., Zhang, L., Hong, X., Wang, D., &amp; Xiao, J. (2025). Application of the KA-Transformer model to early sepsis prediction: a hybrid network analysis based on time series data. Discover Applied Sciences, 7, 218.</a:t>
            </a:r>
            <a:endParaRPr lang="en-US" sz="900" dirty="0"/>
          </a:p>
          <a:p>
            <a:pPr algn="l"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B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Taparugssanagorn, A., Sarestoniemi, M., Hamalainen, M., &amp; Iinatti, J. (2026). Early Sepsis Detection Using Heterogeneous Structured ICU Data with Explainable Deep Learning. Sensors, 26, 3648.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2026-08-13T06:57:40Z</dcterms:created>
  <dcterms:modified xsi:type="dcterms:W3CDTF">2026-08-13T06:57:40Z</dcterms:modified>
</cp:coreProperties>
</file>