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A212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29000"/>
            <a:ext cx="50292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189720" y="2834640"/>
            <a:ext cx="182880" cy="5943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34640"/>
            <a:ext cx="182880" cy="14173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555480" y="2148840"/>
            <a:ext cx="182880" cy="21031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2148840"/>
            <a:ext cx="228600" cy="12801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3429000"/>
            <a:ext cx="182880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3337560"/>
            <a:ext cx="182880" cy="182880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0" name="Shape 8"/>
          <p:cNvSpPr/>
          <p:nvPr/>
        </p:nvSpPr>
        <p:spPr>
          <a:xfrm>
            <a:off x="8732520" y="1005840"/>
            <a:ext cx="109728" cy="109728"/>
          </a:xfrm>
          <a:prstGeom prst="ellipse">
            <a:avLst/>
          </a:prstGeom>
          <a:solidFill>
            <a:srgbClr val="9FC2B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486400"/>
            <a:ext cx="146304" cy="146304"/>
          </a:xfrm>
          <a:prstGeom prst="ellipse">
            <a:avLst/>
          </a:prstGeom>
          <a:solidFill>
            <a:srgbClr val="FFD9B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5029200"/>
            <a:ext cx="82296" cy="82296"/>
          </a:xfrm>
          <a:prstGeom prst="ellipse">
            <a:avLst/>
          </a:prstGeom>
          <a:solidFill>
            <a:srgbClr val="9FC2B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48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and Information Systems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PMCA698J — DISSERTATION-I / INTERNSHIP-1  |  REVIEW 1  |  FALL SEMESTER 2026–27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737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Sepsis Prediction in Intensive Care Units Using Explainable Deep Learning and Multimodal Data Representation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Sub-brand: SepsisSense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Sudhanshu Kumar Jha  —  25MCA0181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Sweta Bhattacharya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88873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is a life-threatening dysregulated host response to infection, leading to systemic inflammation and multi-organ dysfunction. Its clinical management is highly time-sensitive, making early detection and warning systems essential in critical care.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robust deep learning framework for early sepsis prediction. By combining structured EHR data with unstructured clinical notes (SepsisDRM-style multimodal representation), the model captures clinical context that traditional systems overlook. Temporal Convolutional Networks and a Kernel Attention Transformer (KA-Transformer) model long-range dependencies, while conformal prediction and active sensing quantify uncertainty and recommend informative measurements.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explainable AI (SHAP) provides transparent, feature-level rationales, bridging the gap between deep learning complexity and clinical trust. The system will be evaluated on benchmark cohorts such as MIMIC-Sepsis to ensure generalizability under distribution shift.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5806440"/>
            <a:ext cx="6949440" cy="777240"/>
          </a:xfrm>
          <a:prstGeom prst="rect">
            <a:avLst/>
          </a:prstGeom>
          <a:solidFill>
            <a:srgbClr val="F9EEE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587044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Prediction, Explainable AI, Deep Learning, Temporal Transformer, Conformal Prediction, Multimodal Representation.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23332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252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20756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global deaths occur due to sepsis annually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E5250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0358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95528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mortality per hour of delayed antibiotics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7091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4818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hrs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95528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 targeted by this project's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Challenge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accounts for roughly 20% of global deaths annually; mortality rises by up to 7.6% for every hour antibiotics and fluid resuscitation are delayed.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Traditional Surveillance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EHR-based ML surveillance tools score risk from vitals and labs alone, ignoring the rich clinical context captured in nursing and progress notes.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4424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12" name="Shape 10"/>
          <p:cNvSpPr/>
          <p:nvPr/>
        </p:nvSpPr>
        <p:spPr>
          <a:xfrm>
            <a:off x="8165592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Deep Sequence Models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65592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and Transformers capture temporal patterns well, but remain black-boxes clinicians hesitate to trust without an interpretable rationale.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Single-Modality, Overconfident Alerts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model structured or textual data alone and rarely quantify their own uncertainty, so they alert confidently even on sparse, ambiguous cases.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1908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3076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23076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3076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fuses structured EHR and clinical text through a shared multimodal embedding, models sequences with a KA-Transformer, and wraps every output in conformal prediction and SHAP-based explanation.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sepsis prediction systems face critical challenges that limit real-world deployment: ICU time-series data is sparsely and irregularly sampled, and imputing missing values introduces uncertainty that propagates into false alerts. Sepsis cases represent a small minority of ICU admissions, so models trained on imbalanced data often suffer from low sensitivity or high false-alarm rates.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architectures such as Transformers and BiLSTMs behave as black boxes, making clinicians hesitant to trust their alerts without interpretable rationales. Models trained on single-center datasets also fail to generalize across institutions due to differences in demographics, equipment, and clinical practice.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16052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9EEE7"/>
          </a:solidFill>
          <a:ln w="12700">
            <a:solidFill>
              <a:srgbClr val="9FC2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343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42976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that jointly fuses structured and textual clinical data, quantifies its own predictive uncertainty rather than alerting blindly, and explains every alert — while remaining robust across different ICU sites.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Temporal Modeling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KA-Transformer + TCN model to predict sepsis onset 6–12 hours in advance.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Embedding (SepsisDRM)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encode structured EHR variables and clinical notes into a shared representation space.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Uncertainty Layer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conformal prediction so the model can flag low-confidence patients as indeterminate instead of false-alarming.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Integration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and attention visualization to give clinicians transparent, feature-level rationales.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Validation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adapt the system across MIMIC-IV and eICU cohorts under distribution shift.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Sensing &amp; Deployment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most informative next lab test and package the pipeline as containerized microservices.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and eICU cohorts: 250,000+ patient stays, 8 high-frequency vitals, and 26 intermittent lab measurements.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shift assessments, progress notes, and radiology reports, parsed via domain-adapted Clinical-BERT embeddings.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decision-support tool — a real-time backend service, not an automated treatment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 intervention or automated therapy administration is intentionally excluded from this phase.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 and clinician-facing dashboard alerts, with an active-sensing module recommending informative lab tests.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FastAPI/PostgreSQL/Redis backend paired with a React.js bedside alert dashboard.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System: SepsisSense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a five-stage pipeline, not a single end-to-end model, so each reasoning stage can be verified independently.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Preprocessing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labs, and notes are ingested, binned into 1-hour windows, and imputed via forward-fill / median.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2104" y="2240280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Embedding (SepsisDRM)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tabular MLP and Clinical-BERT encoder align structured and textual data into a shared 256-d embedding space.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" y="3227832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Modeling 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575304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TCN captures short-term dynamics while the KA-Transformer models long-range dependencies in O(T)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" y="4215384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636008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5628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&amp; Active-Sensing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562856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scores flag high-variance patients as indeterminate; active sensing recommends the next lab test.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" y="5202936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55504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&amp; Clinician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5550408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and attention maps are rendered on a real-time bedside advisory interface.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5349240"/>
          </a:xfrm>
          <a:prstGeom prst="roundRect">
            <a:avLst>
              <a:gd name="adj" fmla="val 855"/>
            </a:avLst>
          </a:prstGeom>
          <a:solidFill>
            <a:srgbClr val="F9EEE7"/>
          </a:solidFill>
          <a:ln/>
        </p:spPr>
      </p:sp>
      <p:pic>
        <p:nvPicPr>
          <p:cNvPr id="4" name="Image 0" descr="/home/claude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003" y="1371600"/>
            <a:ext cx="814768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&amp; Process Flow Diagrams</a:t>
            </a:r>
            <a:endParaRPr lang="en-US" sz="3000" dirty="0"/>
          </a:p>
        </p:txBody>
      </p:sp>
      <p:pic>
        <p:nvPicPr>
          <p:cNvPr id="3" name="Image 0" descr="/home/claude/asset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637" y="1143000"/>
            <a:ext cx="4426251" cy="2788920"/>
          </a:xfrm>
          <a:prstGeom prst="rect">
            <a:avLst/>
          </a:prstGeom>
        </p:spPr>
      </p:pic>
      <p:pic>
        <p:nvPicPr>
          <p:cNvPr id="4" name="Image 1" descr="/home/claude/assets/class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08" y="1143000"/>
            <a:ext cx="4509851" cy="2788920"/>
          </a:xfrm>
          <a:prstGeom prst="rect">
            <a:avLst/>
          </a:prstGeom>
        </p:spPr>
      </p:pic>
      <p:pic>
        <p:nvPicPr>
          <p:cNvPr id="5" name="Image 2" descr="/home/claude/assets/process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662" y="4160520"/>
            <a:ext cx="4000371" cy="2331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Survey: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peer-reviewed and preprint sources were reviewed, spanning uncertainty quantification, multimodal representation learning, temporal transformer architectures, conformal prediction, and real-world clinical deployment of sepsis prediction systems specifically.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survey with title, year, merits, and demerits for each paper is presented across the next three slides in table format.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Uncertainty-Aware &amp; Trustworthy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reducing false alarms and abstaining on low-confidence cases, but weaker at fusing multimodal clinical context.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&amp; Representation Learning Systems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capturing rich structured and textual clinical context, but weaker at communicating prediction confidence.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1–5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1–5)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 et al. (2024) — SepsisLab: Uncertainty Quantification and Active Sensing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imputation-driven uncertainty; active sensing suggests high-value labs; validated on 3 cohorts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real-time clinician interaction; bounded by underlying imputation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 et al. (2025) — MEET-Sepsis: Multi-View Time-Series Representation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weak early signals; cuts required ICU observation time by 80% at high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learning adds computational overhead; evaluation limited to standard datasets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 (2025) — MIMIC-Sepsis: Curated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open benchmark with treatment variables; standardized Sepsis-3 preprocessing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cohort subject to historical treatment-protocol bias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 et al. (2026) — Federated Learning with Knowledge Graph &amp; Temporal Transformer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privacy via federated learning; meta-learning adapts fast to local hospitals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communication overhead; aligning heterogeneous medical knowledge graphs is non-trivial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Mansoor et al. (2026) — Self-Supervised (JEPA) &amp; Federated Representation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with 83% fewer biomarkers; temporally persistent pre-trained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heavily on pre-training quality; representation degrades over long horizons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6–10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6–10)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Oliveira et al. (2026) — Responsible AI for Sepsis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bridges black-box predictions and clinical trust; XGBoost AUROC 0.874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is computationally expensive in real time; no unstructured text 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 (2026) — Lightweight LLMs via Semantic Abstraction Rule 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data to natural language; fine-tuned LLM (Gemma-2-9B) reaches 0.93 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 even for lightweight LLMs; rule engine needs manual expert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Mahmoud et al. (2026) — Explainable Deep Learning for Early Sepsis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0.959; compares 12 architectures; robust to imbalance and missingness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BiLSTM/TCN remain opaque, requiring external post-hoc XAI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Shashikumar et al. (2021) — AI Learns to Say 'I Don't Know'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low-confidence cases 'indeterminate'; conformal prediction gives statistical guarantees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outputs need extra screening; conformal math is hard for clinicians to interpret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Boussina et al. (2024) — Impact of a Deep Learning Sepsis Model on Care &amp; Survival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prospective clinical impact: 1.9% absolute mortality 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Quasi-experimental design may be confounded; nurse-facing alerts can cause fatigue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11–15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11–15)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Shashikumar et al. (2025) — LLM-Based Sepsis Prediction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structured EHR with clinical notes; prospectively validated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inference latency and hardware cost; privacy concerns with clinical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Tranchellini et al. (2026) — Deep Learning Sepsis Models Under Distribution 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3 multi-center datasets; shows fine-tuning underperforms retraining/DA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study; domain adaptation needs labeled target-site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 (2026) — Multimodal Embedding Model for Sepsis (SepsisDRM)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dedicated sepsis embedding model; generalizes without task-specific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Resource-intensive pre-training; depends on high-quality paired notes and tabular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(2025) — KA-Transformer for Early Sepsis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attention cuts parameters/compute; 92.3–96.1% accuracy at 1–12h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long continuous observation windows; slight degradation at longer horizons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Taparugssanagorn et al. (2026) — Heterogeneous ICU Data with Explainable DL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SOTA architectures; dual explainability (SHAP + attention); tests distribution 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Minority-class F1 (0.454) remains low under extreme class imbalance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from 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&amp; Confidence Without Full Context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conformal prediction, active sensing, and 'indeterminate' outputs (Yin et al. 2024; Shashikumar et al. 2021) reduce false alarms and quantify uncertainty — but do not fuse multimodal clinical text.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23332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Representation Without Built-in Confidence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44568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multimodal embedding, LLM-based, and federated knowledge-graph approaches (Liu et al. 2026; Shashikumar et al. 2025; Chang et al. 2026) capture richer clinical context, but rarely say when they are unsure.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10" name="Text 8"/>
          <p:cNvSpPr/>
          <p:nvPr/>
        </p:nvSpPr>
        <p:spPr>
          <a:xfrm>
            <a:off x="8357616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Architectures, Fragmented Evaluation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57616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the KA-Transformer, MEET-Sepsis, and distribution-shift studies (Zhu et al. 2025; Tan et al. 2025; Tranchellini et al. 2026) deliver strong modeling or benchmarking — but each addresses only one piece of the problem.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623560"/>
            <a:ext cx="11155680" cy="594360"/>
          </a:xfrm>
          <a:prstGeom prst="roundRect">
            <a:avLst>
              <a:gd name="adj" fmla="val 7692"/>
            </a:avLst>
          </a:prstGeom>
          <a:solidFill>
            <a:srgbClr val="FFD9B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This is the specific gap the proposed system addresses.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Multimodal Fusion Instead of Fragmented Modalities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and clinical notes are fused into one SepsisDRM-style shared embedding, rather than modeled separately as most prior work does.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Calibrated, Explainable Alerts Instead of Black Boxes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is combined with dual XAI (SHAP + attention), so every alert carries both a confidence bound and a rationale.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Sensing &amp; Cross-Site Robustness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recommends the next informative lab test and is explicitly validated and adapted across MIMIC-IV and eICU under distribution shift.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Extraction &amp; Sepsis-3 Labeling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patient trajectories from MIMIC-IV and eICU using Sepsis-3 criteria (suspected infection + acute SOFA increase ≥2).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binning, forward-fill / median imputation, missingness indicators, and min-max normalization.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Representation (SepsisDRM)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alignment of a tabular MLP and Clinical-BERT encoder into a shared 256-dimensional embedding space.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Modeling, Conformal Layer &amp; XAI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+ KA-Transformer predict risk; conformal prediction flags indeterminate cases; SHAP and attention explain alerts.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Domain Adaptation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MIMIC-IV → eICU transfer and apply MMD-based domain adaptation using a small target-site cohort.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vitals, labs, and clinical text via HL7/FHIR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measurements into 1-hour windows with imputation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EHR + notes into a shared multimodal embedding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sepsis risk 6–12 hours ahead (TCN + KA-Transformer)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high-variance predictions as indeterminate (95% coverage)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most informative next lab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SHAP attributions and attention maps for alerts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052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alerts on a clinician advisory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43000"/>
            <a:ext cx="5349240" cy="5166360"/>
          </a:xfrm>
          <a:prstGeom prst="roundRect">
            <a:avLst>
              <a:gd name="adj" fmla="val 1062"/>
            </a:avLst>
          </a:prstGeom>
          <a:solidFill>
            <a:srgbClr val="123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2.0 seconds end-to-end inference latency per patient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2679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to 500 concurrent ICU beds via Kubernetes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924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Trust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intuitive dashboard requiring no ML background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modular, containerized (Docker)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8188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HIPAA-compliant, TLS 1.3 encryption, no unhashed identifiers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99.9% uptime with automated failover mechanisms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772400" cy="521208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React.js, WebSockets, Plotly.js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2.2, PyTorch Lightning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&amp; Text 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Transformers, Clinical-BERT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SHAP, Captum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Kafka, Apache Spark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Kubernetes, Helm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A100 / RTX 4080 GPU, Ubuntu 22.04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234440"/>
            <a:ext cx="3108960" cy="5212080"/>
          </a:xfrm>
          <a:prstGeom prst="roundRect">
            <a:avLst>
              <a:gd name="adj" fmla="val 1765"/>
            </a:avLst>
          </a:prstGeom>
          <a:solidFill>
            <a:srgbClr val="123332"/>
          </a:solidFill>
          <a:ln/>
        </p:spPr>
      </p:sp>
      <p:sp>
        <p:nvSpPr>
          <p:cNvPr id="5" name="Text 2"/>
          <p:cNvSpPr/>
          <p:nvPr/>
        </p:nvSpPr>
        <p:spPr>
          <a:xfrm>
            <a:off x="882396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Snapshot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23960" y="21031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 are containerized with Docker and orchestrated via Kubernetes, scaling horizontally to monitor up to 500 active ICU beds with sub-2-second inference latency.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823960" y="4297680"/>
            <a:ext cx="2331720" cy="0"/>
          </a:xfrm>
          <a:prstGeom prst="line">
            <a:avLst/>
          </a:prstGeom>
          <a:noFill/>
          <a:ln w="12700">
            <a:solidFill>
              <a:srgbClr val="2E52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23960" y="4480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23960" y="4846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4080 / A100 GPU (16GB+ VRAM), Linux Ubuntu 22.04 LTS.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innovative framework for early sepsis prediction in ICUs that directly addresses the real-world barriers of data missingness, clinical trust, and distribution shift.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structured EHR variables with unstructured textual notes in a multimodal embedding space, and using a KA-Transformer for sequential patterns, the system achieves superior early-warning capability. Integrating conformal prediction and explainable AI ensures clinicians receive reliable, transparent, low-false-alarm predictions, enhancing clinical utility and patient survival rates in intensive care units.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clinical validation of comparable deployed alert systems has demonstrated measurable improvements in patient outcomes beyond academic benchmarks, reinforcing the real-world value of this direction.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SepsisSense AI aims to bridge the gap between reliable multimodal clinical perception and transparent, trustworthy early-warning generation for ICU patients.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 is to verify structured evidence first, and only then let the model speak — grounding every alert in fused data, calibrated confidence, and an explainable rationale.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layered and modular — explainable, testable at each stage, and realistic to build within the scope of a dissertation project — while leaving room for future extensions such as continuous monitoring and edge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143000"/>
            <a:ext cx="5623560" cy="5349240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Bedside Integration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live clinical-trial evaluations across hospital ICUs to validate real-time alert efficacy and clinician workflow impact.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9992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Wearable Sensor Fusion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ingest high-frequency telemetry from non-invasive wearables (PPG, ECG, transcutaneous SpO2).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40325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Standardized API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open-source FHIR R4 microservices for plug-and-play integration into Epic, Cerner, and Oracle Health.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5065776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Federated Expansion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federated knowledge-graph representation for collaborative model updates while preserving patient privacy.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2026-08-13T06:57:40Z</dcterms:created>
  <dcterms:modified xsi:type="dcterms:W3CDTF">2026-08-13T06:57:40Z</dcterms:modified>
</cp:coreProperties>
</file>