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81" r:id="rId18"/>
    <p:sldId id="282" r:id="rId19"/>
    <p:sldId id="272" r:id="rId20"/>
    <p:sldId id="273" r:id="rId21"/>
    <p:sldId id="274" r:id="rId22"/>
    <p:sldId id="278" r:id="rId23"/>
    <p:sldId id="279" r:id="rId24"/>
    <p:sldId id="280" r:id="rId25"/>
    <p:sldId id="275" r:id="rId26"/>
    <p:sldId id="276" r:id="rId27"/>
    <p:sldId id="277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2367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0"/>
            <a:ext cx="3779215" cy="6858000"/>
          </a:xfrm>
          <a:prstGeom prst="rect">
            <a:avLst/>
          </a:prstGeom>
          <a:solidFill>
            <a:srgbClr val="0A212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8686800" y="3429000"/>
            <a:ext cx="502920" cy="0"/>
          </a:xfrm>
          <a:prstGeom prst="line">
            <a:avLst/>
          </a:prstGeom>
          <a:noFill/>
          <a:ln w="31750">
            <a:solidFill>
              <a:srgbClr val="EF9C8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 flipV="1">
            <a:off x="9189720" y="2834640"/>
            <a:ext cx="182880" cy="594360"/>
          </a:xfrm>
          <a:prstGeom prst="line">
            <a:avLst/>
          </a:prstGeom>
          <a:noFill/>
          <a:ln w="31750">
            <a:solidFill>
              <a:srgbClr val="EF9C8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372600" y="2834640"/>
            <a:ext cx="182880" cy="1417320"/>
          </a:xfrm>
          <a:prstGeom prst="line">
            <a:avLst/>
          </a:prstGeom>
          <a:noFill/>
          <a:ln w="31750">
            <a:solidFill>
              <a:srgbClr val="EF9C8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 flipV="1">
            <a:off x="9555480" y="2148840"/>
            <a:ext cx="182880" cy="2103120"/>
          </a:xfrm>
          <a:prstGeom prst="line">
            <a:avLst/>
          </a:prstGeom>
          <a:noFill/>
          <a:ln w="31750">
            <a:solidFill>
              <a:srgbClr val="EF9C8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9738360" y="2148840"/>
            <a:ext cx="228600" cy="1280160"/>
          </a:xfrm>
          <a:prstGeom prst="line">
            <a:avLst/>
          </a:prstGeom>
          <a:noFill/>
          <a:ln w="31750">
            <a:solidFill>
              <a:srgbClr val="EF9C8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9966960" y="3429000"/>
            <a:ext cx="1828800" cy="0"/>
          </a:xfrm>
          <a:prstGeom prst="line">
            <a:avLst/>
          </a:prstGeom>
          <a:noFill/>
          <a:ln w="31750">
            <a:solidFill>
              <a:srgbClr val="EF9C8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9921240" y="3337560"/>
            <a:ext cx="182880" cy="182880"/>
          </a:xfrm>
          <a:prstGeom prst="ellipse">
            <a:avLst/>
          </a:prstGeom>
          <a:solidFill>
            <a:srgbClr val="EF9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8732520" y="1005840"/>
            <a:ext cx="109728" cy="109728"/>
          </a:xfrm>
          <a:prstGeom prst="ellipse">
            <a:avLst/>
          </a:prstGeom>
          <a:solidFill>
            <a:srgbClr val="9FC2B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1521440" y="5486400"/>
            <a:ext cx="146304" cy="146304"/>
          </a:xfrm>
          <a:prstGeom prst="ellipse">
            <a:avLst/>
          </a:prstGeom>
          <a:solidFill>
            <a:srgbClr val="FFD9B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0607040" y="5029200"/>
            <a:ext cx="82296" cy="82296"/>
          </a:xfrm>
          <a:prstGeom prst="ellipse">
            <a:avLst/>
          </a:prstGeom>
          <a:solidFill>
            <a:srgbClr val="9FC2B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5486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Engineering and Information Systems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9601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PAMCA698 — INTERNSHIP I / DISSERTATION I (PROJECT)  |  REVIEW 2  |  FALL SEMESTER 2026–27  |  07.10.2026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173736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Measurement-Process-Aware Causal Trajectory Modeling for Transportable Early Sepsis Prediction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40080" y="37947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AegisSepsis AI — A Multi-Center Retrospective Evaluation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45262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Sudhanshu Kumar Jha  —  25MCA0181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98348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1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
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SWETA BHATTACHARYA
</a:t>
            </a:r>
            <a:r>
              <a:rPr lang="en-US" sz="11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Associate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Grade 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Outline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536192"/>
            <a:ext cx="82296" cy="82296"/>
          </a:xfrm>
          <a:prstGeom prst="ellipse">
            <a:avLst/>
          </a:prstGeom>
          <a:solidFill>
            <a:srgbClr val="EF9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941832" y="140817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2157984"/>
            <a:ext cx="82296" cy="82296"/>
          </a:xfrm>
          <a:prstGeom prst="ellipse">
            <a:avLst/>
          </a:prstGeom>
          <a:solidFill>
            <a:srgbClr val="EF9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41832" y="20299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2779776"/>
            <a:ext cx="82296" cy="82296"/>
          </a:xfrm>
          <a:prstGeom prst="ellipse">
            <a:avLst/>
          </a:prstGeom>
          <a:solidFill>
            <a:srgbClr val="EF9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41832" y="26517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3401568"/>
            <a:ext cx="82296" cy="82296"/>
          </a:xfrm>
          <a:prstGeom prst="ellipse">
            <a:avLst/>
          </a:prstGeom>
          <a:solidFill>
            <a:srgbClr val="EF9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41832" y="327355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4023360"/>
            <a:ext cx="82296" cy="82296"/>
          </a:xfrm>
          <a:prstGeom prst="ellipse">
            <a:avLst/>
          </a:prstGeom>
          <a:solidFill>
            <a:srgbClr val="EF9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941832" y="389534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the Project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5800" y="4645152"/>
            <a:ext cx="82296" cy="82296"/>
          </a:xfrm>
          <a:prstGeom prst="ellipse">
            <a:avLst/>
          </a:prstGeom>
          <a:solidFill>
            <a:srgbClr val="EF9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941832" y="451713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5266944"/>
            <a:ext cx="82296" cy="82296"/>
          </a:xfrm>
          <a:prstGeom prst="ellipse">
            <a:avLst/>
          </a:prstGeom>
          <a:solidFill>
            <a:srgbClr val="EF9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941832" y="51389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" y="5888736"/>
            <a:ext cx="82296" cy="82296"/>
          </a:xfrm>
          <a:prstGeom prst="ellipse">
            <a:avLst/>
          </a:prstGeom>
          <a:solidFill>
            <a:srgbClr val="EF9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941832" y="57607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09360" y="1536192"/>
            <a:ext cx="82296" cy="82296"/>
          </a:xfrm>
          <a:prstGeom prst="ellipse">
            <a:avLst/>
          </a:prstGeom>
          <a:solidFill>
            <a:srgbClr val="EF9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565392" y="140817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09360" y="2157984"/>
            <a:ext cx="82296" cy="82296"/>
          </a:xfrm>
          <a:prstGeom prst="ellipse">
            <a:avLst/>
          </a:prstGeom>
          <a:solidFill>
            <a:srgbClr val="EF9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565392" y="20299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09360" y="2779776"/>
            <a:ext cx="82296" cy="82296"/>
          </a:xfrm>
          <a:prstGeom prst="ellipse">
            <a:avLst/>
          </a:prstGeom>
          <a:solidFill>
            <a:srgbClr val="EF9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6565392" y="26517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09360" y="3401568"/>
            <a:ext cx="82296" cy="82296"/>
          </a:xfrm>
          <a:prstGeom prst="ellipse">
            <a:avLst/>
          </a:prstGeom>
          <a:solidFill>
            <a:srgbClr val="EF9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565392" y="327355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 Tech Stack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09360" y="4023360"/>
            <a:ext cx="82296" cy="82296"/>
          </a:xfrm>
          <a:prstGeom prst="ellipse">
            <a:avLst/>
          </a:prstGeom>
          <a:solidFill>
            <a:srgbClr val="EF9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565392" y="389534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Stress Tests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09360" y="4645152"/>
            <a:ext cx="82296" cy="82296"/>
          </a:xfrm>
          <a:prstGeom prst="ellipse">
            <a:avLst/>
          </a:prstGeom>
          <a:solidFill>
            <a:srgbClr val="EF9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6565392" y="451713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Policy &amp; Project Plan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09360" y="5266944"/>
            <a:ext cx="82296" cy="82296"/>
          </a:xfrm>
          <a:prstGeom prst="ellipse">
            <a:avLst/>
          </a:prstGeom>
          <a:solidFill>
            <a:srgbClr val="EF9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6565392" y="51389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Future Scope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143000"/>
            <a:ext cx="69494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Sepsis causes nearly 20% of global deaths, and delayed treatment increases mortality. A major challenge for ML early-warning systems is learning hospital-specific observation behavior instead of true physiology.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AegisSepsis AI separates physiological trajectories (Z-score state, 3 h velocity, 6 h acceleration) from observation-process signals (measurement mask, time delta, sampling history), then combines them for prediction.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an independent 20,000-admission BIDMC cohort with 0.00% overlap and no retraining, Aegis achieved AUROC 0.7310, reduced the transport gap to 0.0510, and showed strong robustness to measurement loss and mask perturbation.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5806440"/>
            <a:ext cx="6949440" cy="777240"/>
          </a:xfrm>
          <a:prstGeom prst="rect">
            <a:avLst/>
          </a:prstGeom>
          <a:solidFill>
            <a:srgbClr val="F9EE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85800" y="5870448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23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Keywords:  </a:t>
            </a:r>
            <a:r>
              <a:rPr lang="en-US" sz="11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Sepsis Early Warning, Cross-Institution Transportability, Dataset Shift, ICU Observation Process, Missingness Modeling, Causal Trajectory Normalization.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772400" y="114300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123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955280" y="125272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0.7310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955280" y="207568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AUROC on BIDMC Set B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0" y="292608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2E525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955280" y="303580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30.52%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7955280" y="385876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cross-institution transport gap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0" y="470916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EF9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955280" y="481888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2.93x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7955280" y="564184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AUROC loss under 40% measurement loss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3502152" cy="2240280"/>
          </a:xfrm>
          <a:prstGeom prst="roundRect">
            <a:avLst>
              <a:gd name="adj" fmla="val 2449"/>
            </a:avLst>
          </a:prstGeom>
          <a:solidFill>
            <a:srgbClr val="F9EE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04088" y="1435608"/>
            <a:ext cx="457200" cy="54864"/>
          </a:xfrm>
          <a:prstGeom prst="rect">
            <a:avLst/>
          </a:prstGeom>
          <a:solidFill>
            <a:srgbClr val="EF9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04088" y="1563624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of the Challenge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04088" y="2221992"/>
            <a:ext cx="30998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Sepsis affects 49M+ people yearly and causes ~20% of global deaths; each hour of delayed antimicrobials raises mortality by ~7.6%.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33672" y="1234440"/>
            <a:ext cx="3502152" cy="2240280"/>
          </a:xfrm>
          <a:prstGeom prst="roundRect">
            <a:avLst>
              <a:gd name="adj" fmla="val 2449"/>
            </a:avLst>
          </a:prstGeom>
          <a:solidFill>
            <a:srgbClr val="F9EE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434840" y="1435608"/>
            <a:ext cx="457200" cy="54864"/>
          </a:xfrm>
          <a:prstGeom prst="rect">
            <a:avLst/>
          </a:prstGeom>
          <a:solidFill>
            <a:srgbClr val="EF9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434840" y="1563624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Observation-Process Shortcuts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434840" y="2221992"/>
            <a:ext cx="30998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use lab-ordering frequency as a feature, learning site-specific habits that break at other hospitals.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64424" y="1234440"/>
            <a:ext cx="3502152" cy="2240280"/>
          </a:xfrm>
          <a:prstGeom prst="roundRect">
            <a:avLst>
              <a:gd name="adj" fmla="val 2449"/>
            </a:avLst>
          </a:prstGeom>
          <a:solidFill>
            <a:srgbClr val="F9EE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8165592" y="1435608"/>
            <a:ext cx="457200" cy="54864"/>
          </a:xfrm>
          <a:prstGeom prst="rect">
            <a:avLst/>
          </a:prstGeom>
          <a:solidFill>
            <a:srgbClr val="EF9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165592" y="1563624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Transportability Failure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165592" y="2221992"/>
            <a:ext cx="30998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Cross-institution AUROC decays by 0.05–0.12 (Nestor et al., 2019), blocking real-world deployment.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749040"/>
            <a:ext cx="5344668" cy="2240280"/>
          </a:xfrm>
          <a:prstGeom prst="roundRect">
            <a:avLst>
              <a:gd name="adj" fmla="val 2449"/>
            </a:avLst>
          </a:prstGeom>
          <a:solidFill>
            <a:srgbClr val="F9EE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04088" y="3950208"/>
            <a:ext cx="457200" cy="54864"/>
          </a:xfrm>
          <a:prstGeom prst="rect">
            <a:avLst/>
          </a:prstGeom>
          <a:solidFill>
            <a:srgbClr val="EF9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04088" y="4078224"/>
            <a:ext cx="49423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Alarm Fatigue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04088" y="4736592"/>
            <a:ext cx="49423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Unfiltered alerts overwhelm bedside staff; dual-tier screening is needed to cut false alarms.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1908" y="3749040"/>
            <a:ext cx="5344668" cy="2240280"/>
          </a:xfrm>
          <a:prstGeom prst="roundRect">
            <a:avLst>
              <a:gd name="adj" fmla="val 2449"/>
            </a:avLst>
          </a:prstGeom>
          <a:solidFill>
            <a:srgbClr val="F9EE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323076" y="3950208"/>
            <a:ext cx="457200" cy="54864"/>
          </a:xfrm>
          <a:prstGeom prst="rect">
            <a:avLst/>
          </a:prstGeom>
          <a:solidFill>
            <a:srgbClr val="EF9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323076" y="4078224"/>
            <a:ext cx="49423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Approach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323076" y="4736592"/>
            <a:ext cx="49423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AegisSepsis AI separates physiology (Z, dZ/dt, d²Z/dt²) from observation process (M, Δt, N) and enforces invariance to mask changes.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11155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face critical challenges: ICU data is sparse and irregularly sampled, so imputation uncertainty becomes false alerts, and sepsis is only 7.57–12.4% of admissions, causing low sensitivity or high false-alarm rates.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also use lab-ordering frequency as a shortcut that holds at the derivation hospital but breaks where ordering is protocolized; AUROC decays by 0.05–0.12 across sites (Nestor et al., 2019). Black-box models further limit clinician trust.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4160520"/>
            <a:ext cx="11155680" cy="1417320"/>
          </a:xfrm>
          <a:prstGeom prst="roundRect">
            <a:avLst>
              <a:gd name="adj" fmla="val 3871"/>
            </a:avLst>
          </a:prstGeom>
          <a:solidFill>
            <a:srgbClr val="F9EEE7"/>
          </a:solidFill>
          <a:ln w="12700">
            <a:solidFill>
              <a:srgbClr val="9FC2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77240" y="434340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417320" y="4297680"/>
            <a:ext cx="9966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50" b="1" i="1" dirty="0">
                <a:solidFill>
                  <a:srgbClr val="123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is needed that separates true physiological deterioration from clinical ordering behavior, stays robust at unseen hospitals, and explains every alert while limiting alarm fatigue.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9FC2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96596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Causal Decoupling Framework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02920" y="265176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physiology (Z, dZ/dt, d²Z/dt²) from observation process (M, Δt, N).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15968" y="12801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9FC2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315968" y="196596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Causal Normalization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315968" y="265176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34 variables into causal Z-score trajectories without lookahead leakage.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129016" y="12801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9FC2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8129016" y="196596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Validation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129016" y="265176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20,000-patient BIDMC Set B with 0.00% overlap and zero retraining.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8404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9FC2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02920" y="452628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Stress Testing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02920" y="521208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0–80%, same-physiology mask perturbation and density-quartile analysis.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15968" y="38404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9FC2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315968" y="452628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Alert Policy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315968" y="521208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VAL_POL_0450: τ=0.450 with 2 consecutive hours of elevated risk.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29016" y="38404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9FC2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8129016" y="452628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 &amp; Calibration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129016" y="521208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attribution plus calibration analysis; Aegis ECE = 0.0182.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the Project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F9EE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Scope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Emory Set A (20,336 admissions; 2,974 locked test, 12.4% prevalence) and BIDMC Set B (20,000; 7.57%); 34 variables: 8 vitals + 26 labs.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15968" y="128016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F9EE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44568" y="15087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Cohort Isolation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44568" y="210312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Strictly 0.00% patient overlap verified by SHA-256 audit; Set B used only as a single-pass external holdout.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129016" y="128016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F9EE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357616" y="15087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Role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357616" y="210312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clinical decision-support tool — a real-time backend service, not an automated treatment system.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84048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123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31520" y="40690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of Scope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466344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treatment intervention or automated therapy administration is intentionally excluded from this phase.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15968" y="384048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123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544568" y="40690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Integration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44568" y="466344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Clinician-facing risk alerts with SHAP rationale; thresholded alert policy supports bedside review.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29016" y="384048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123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357616" y="40690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Design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57616" y="466344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ingestion, containerized FastAPI / PostgreSQL / Redis backend and a React.js bedside alert dashboard.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System: AegisSepsis AI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stages separate physiology from the observation process, so each can be verified independently.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73352"/>
            <a:ext cx="566928" cy="566928"/>
          </a:xfrm>
          <a:prstGeom prst="ellipse">
            <a:avLst/>
          </a:prstGeom>
          <a:solidFill>
            <a:srgbClr val="123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48640" y="1673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6002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Ingestion &amp; Signal Alignment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00600" y="1600200"/>
            <a:ext cx="6903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HL7-FHIR streams binned into 1-hour windows; sensor artifacts flagged, unmeasured variables causally initialized.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32104" y="2240280"/>
            <a:ext cx="0" cy="347472"/>
          </a:xfrm>
          <a:prstGeom prst="line">
            <a:avLst/>
          </a:prstGeom>
          <a:noFill/>
          <a:ln w="19050">
            <a:solidFill>
              <a:srgbClr val="9FC2BE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48640" y="2660904"/>
            <a:ext cx="566928" cy="566928"/>
          </a:xfrm>
          <a:prstGeom prst="ellipse">
            <a:avLst/>
          </a:prstGeom>
          <a:solidFill>
            <a:srgbClr val="123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48640" y="2660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258775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Causal Trajectory Construction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0600" y="2587752"/>
            <a:ext cx="6903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Patient-relative Z-scores, 3 h velocity and 6 h acceleration from past data only (no lookahead).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32104" y="3227832"/>
            <a:ext cx="0" cy="347472"/>
          </a:xfrm>
          <a:prstGeom prst="line">
            <a:avLst/>
          </a:prstGeom>
          <a:noFill/>
          <a:ln w="19050">
            <a:solidFill>
              <a:srgbClr val="9FC2BE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548640" y="3648456"/>
            <a:ext cx="566928" cy="566928"/>
          </a:xfrm>
          <a:prstGeom prst="ellipse">
            <a:avLst/>
          </a:prstGeom>
          <a:solidFill>
            <a:srgbClr val="123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48640" y="36484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371600" y="3575304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Decoupled Observation Encoding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00600" y="3575304"/>
            <a:ext cx="6903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M, time delta Δt and 12 h sampling count N are encoded separately from physiology.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32104" y="4215384"/>
            <a:ext cx="0" cy="347472"/>
          </a:xfrm>
          <a:prstGeom prst="line">
            <a:avLst/>
          </a:prstGeom>
          <a:noFill/>
          <a:ln w="19050">
            <a:solidFill>
              <a:srgbClr val="9FC2BE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548640" y="4636008"/>
            <a:ext cx="566928" cy="566928"/>
          </a:xfrm>
          <a:prstGeom prst="ellipse">
            <a:avLst/>
          </a:prstGeom>
          <a:solidFill>
            <a:srgbClr val="123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48640" y="46360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371600" y="4562856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Invariance-Regularized Prediction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00600" y="4562856"/>
            <a:ext cx="6903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L_total = L_bce + 0.5·L_inv reduces sensitivity to observation-mask changes.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32104" y="5202936"/>
            <a:ext cx="0" cy="347472"/>
          </a:xfrm>
          <a:prstGeom prst="line">
            <a:avLst/>
          </a:prstGeom>
          <a:noFill/>
          <a:ln w="19050">
            <a:solidFill>
              <a:srgbClr val="9FC2BE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548640" y="5623560"/>
            <a:ext cx="566928" cy="566928"/>
          </a:xfrm>
          <a:prstGeom prst="ellipse">
            <a:avLst/>
          </a:prstGeom>
          <a:solidFill>
            <a:srgbClr val="123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548640" y="5623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371600" y="5550408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Policy &amp; Explainability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00600" y="5550408"/>
            <a:ext cx="6903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VAL_POL_0450: τ=0.450 + 2-hour persistence; SHAP rationale supports alert interpretation.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43000"/>
            <a:ext cx="11155680" cy="5349240"/>
          </a:xfrm>
          <a:prstGeom prst="roundRect">
            <a:avLst>
              <a:gd name="adj" fmla="val 855"/>
            </a:avLst>
          </a:prstGeom>
          <a:solidFill>
            <a:srgbClr val="F9EEE7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" name="Image 0" descr="/home/claude/assets/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2003" y="1371600"/>
            <a:ext cx="8147688" cy="485437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UML &amp; Process Flow Diagrams</a:t>
            </a:r>
            <a:endParaRPr lang="en-US" sz="3000" dirty="0"/>
          </a:p>
        </p:txBody>
      </p:sp>
      <p:pic>
        <p:nvPicPr>
          <p:cNvPr id="3" name="Image 0" descr="/home/claude/assets/use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637" y="1143000"/>
            <a:ext cx="4426251" cy="2788920"/>
          </a:xfrm>
          <a:prstGeom prst="rect">
            <a:avLst/>
          </a:prstGeom>
        </p:spPr>
      </p:pic>
      <p:pic>
        <p:nvPicPr>
          <p:cNvPr id="4" name="Image 1" descr="/home/claude/assets/class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08" y="1143000"/>
            <a:ext cx="4509851" cy="2788920"/>
          </a:xfrm>
          <a:prstGeom prst="rect">
            <a:avLst/>
          </a:prstGeom>
        </p:spPr>
      </p:pic>
      <p:pic>
        <p:nvPicPr>
          <p:cNvPr id="5" name="Image 2" descr="/home/claude/assets/processfl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5662" y="4160520"/>
            <a:ext cx="4000371" cy="233172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Survey: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landmark papers were reviewed, spanning early-warning scores, missingness modeling, causal transportability and explainability; 14 recent works (2024–2026) inform the design.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02920" y="21488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survey with title, merits and demerits for each paper is presented across the next three slides.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880360"/>
            <a:ext cx="5349240" cy="2651760"/>
          </a:xfrm>
          <a:prstGeom prst="roundRect">
            <a:avLst>
              <a:gd name="adj" fmla="val 2414"/>
            </a:avLst>
          </a:prstGeom>
          <a:solidFill>
            <a:srgbClr val="123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Observation-Exploiting Models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34340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internal AUROC (TREWScore, GRU-D, BRITS) but overfit to site-specific ordering habits.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2880360"/>
            <a:ext cx="5349240" cy="2651760"/>
          </a:xfrm>
          <a:prstGeom prst="roundRect">
            <a:avLst>
              <a:gd name="adj" fmla="val 2414"/>
            </a:avLst>
          </a:prstGeom>
          <a:solidFill>
            <a:srgbClr val="123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629400" y="31089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29400" y="347472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Shift-Robust &amp; Causal Methods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29400" y="434340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under shift (causal invariance, COMPOSER) but discard signal or decouple only partially.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— Papers 1–5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 (Papers 1–5)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70432"/>
          <a:ext cx="11155680" cy="5047488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412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&amp; 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Demerits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TREWScore: A targeted real-time early warning score for septic shock (Henry et al., Sci Transl Med, 2015)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Supervised tree model outperforming static clinical rules; high early-warning discrimination.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Sensitive to measurement missingness; relies heavily on forward-fill imputation.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InSight: Prediction of sepsis in the ICU with minimal EHR data (Desautels et al., BMJ Open, 2016)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 data requirements using continuous vital signs for bedside surveillance.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false-alarm rate under irregular sampling; overfits to high-frequency vitals.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MGP-RNN: Learning to detect sepsis early via a multi-output Gaussian process RNN (Futoma et al., ICML, 2017)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 continuous multi-output Gaussian process trajectories to capture trend velocity.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Conflates biological trend velocity with clinical measurement sampling frequency.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GRU-D: Recurrent neural networks for multivariate time series with missing values (Che et al., Sci Rep, 2018)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Exploits explicit missingness decay masks (M, Δt) to improve internal AUROC.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Overfits to site-specific clinician ordering habits, causing severe transportability failure.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Sensing: Active sensing using multi-directional RNNs (Yoon et al., ICLR, 2018)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Active-sensing architecture highlighting predictive signals in observation patterns.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Treating ordering frequency as a shortcut predictor induces external dataset shift.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— Papers 6–10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 (Papers 6–10)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70432"/>
          <a:ext cx="11155680" cy="5047488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412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&amp; 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Demerits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BRITS: Bidirectional recurrent imputation for time series (Cao et al., NeurIPS, 2018)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Bidirectional recurrent imputation with joint time-series representation learning.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Imputation features carry site-specific sampling bias across external hospitals.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DeepSOFA: A continuous longitudinal ML model for sepsis prediction (Shickel et al., Sci Rep, 2019)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Tracks sequential organ-failure score transitions for continuous risk assessment.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sensitivity to lab ordering intervals; needs frequent laboratory sampling.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Preventing failures due to dataset shift: Learning predictive models that transport (Subbaswamy et al., NeurIPS, 2019)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Formalizes causal graph invariance surgery to select shift-stable feature sub-graphs.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Discards valuable predictive features, causing substantial internal AUROC drops.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robustness in clinical ML: ICU mortality prediction (Nestor et al., AMIA, 2019)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Quantifies cross-institution performance decay (0.05 to 0.12 AUROC drop) across ICUs.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Retrospective evaluation; offers no architectural decoupling mechanism.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local explanations to global understanding with explainable AI for trees – TreeSHAP (Lundberg et al., Nat Mach Intell, 2020)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Provides exact Shapley feature attributions for tree-based models.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Computationally intensive; needs careful feature grouping to prevent leakage.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— Papers 11–15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 (Papers 11–15)</a:t>
            </a:r>
            <a:endParaRPr lang="en-US" sz="2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70432"/>
          <a:ext cx="11155680" cy="5047488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412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&amp; 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Demerits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prediction of sepsis in the ICU using ML: A systematic evaluation (Moor et al., MLHC, 2021)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Establishes standardized multi-center evaluation protocols for ICU sepsis warning.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not evaluate performance under controlled measurement loss or perturbation.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COMPOSER: AI decision support system for sepsis (Shashikumar et al., npj Digit Med, 2021)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Introduces Time Since Last Measurement (TSLM) and conformal risk bounds.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decoupling; residual missingness shortcut learning remains under site shift.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correlation to causation: Dataset shift in ML (Subbaswamy &amp; Saria, NEJM AI, 2021)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that non-causal clinician ordering shortcuts cause AI transportability collapse.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Theoretical formulation needing empirical validation on large multi-center cohorts.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PredictICU: Dynamic prediction of ICU outcomes under temporal confounding (Rocheteau et al., JAMIA, 2021)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 dynamic patient outcomes under temporal confounding and irregular sampling.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deep architecture requiring extensive computational hardware to train.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Sepsis-3: Third International Consensus Definitions for Sepsis and Septic Shock (Singer et al., JAMA, 2016)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Defines infection-driven organ dysfunction (SOFA change of 2 or more) as gold standard.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Chart-code dependencies and culture timestamps introduce minor ground-truth noise.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 from Literature Survey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3611880" cy="4114800"/>
          </a:xfrm>
          <a:prstGeom prst="roundRect">
            <a:avLst>
              <a:gd name="adj" fmla="val 1519"/>
            </a:avLst>
          </a:prstGeom>
          <a:solidFill>
            <a:srgbClr val="F9EE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Exploit Ordering, Fail to Transport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31520" y="2606040"/>
            <a:ext cx="3154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GRU-D, BRITS, DeepSOFA and TREWScore gain internal AUROC from missingness patterns but overfit to site-specific lab ordering (Che 2018; Cao 2018).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315968" y="1234440"/>
            <a:ext cx="3611880" cy="4114800"/>
          </a:xfrm>
          <a:prstGeom prst="roundRect">
            <a:avLst>
              <a:gd name="adj" fmla="val 1519"/>
            </a:avLst>
          </a:prstGeom>
          <a:solidFill>
            <a:srgbClr val="123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44568" y="150876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Features, Lose Accuracy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44568" y="2606040"/>
            <a:ext cx="3154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invariance surgery (Subbaswamy 2019) prevents shift but discards predictive features; COMPOSER only partially decouples (2021).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129016" y="1234440"/>
            <a:ext cx="3611880" cy="4114800"/>
          </a:xfrm>
          <a:prstGeom prst="roundRect">
            <a:avLst>
              <a:gd name="adj" fmla="val 1519"/>
            </a:avLst>
          </a:prstGeom>
          <a:solidFill>
            <a:srgbClr val="F9EE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357616" y="150876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Shift Measured, Not Fixed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357616" y="2606040"/>
            <a:ext cx="3154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Nestor 2019 and Subbaswamy &amp; Saria 2021 quantify 0.05–0.12 AUROC decay but give no architectural decoupling or stress tests.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5623560"/>
            <a:ext cx="11155680" cy="594360"/>
          </a:xfrm>
          <a:prstGeom prst="roundRect">
            <a:avLst>
              <a:gd name="adj" fmla="val 7692"/>
            </a:avLst>
          </a:prstGeom>
          <a:solidFill>
            <a:srgbClr val="FFD9B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31520" y="562356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i="1" dirty="0">
                <a:solidFill>
                  <a:srgbClr val="123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AegisSepsis AI addresses this gap by explicitly decoupling physiology from the observation process and testing transportability.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Novelty (1/2): Representation &amp; Training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3611880" cy="4206240"/>
          </a:xfrm>
          <a:prstGeom prst="roundRect">
            <a:avLst>
              <a:gd name="adj" fmla="val 1519"/>
            </a:avLst>
          </a:prstGeom>
          <a:solidFill>
            <a:srgbClr val="F9EE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9FC2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Causal Trajectory Decoupling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3703320"/>
            <a:ext cx="3154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Patient-relative Z-scores with 3 h velocity and 6 h acceleration (backward only) are isolated from O = [M, Δt, N], so ordering habits cannot mimic deterioration.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15968" y="1371600"/>
            <a:ext cx="3611880" cy="4206240"/>
          </a:xfrm>
          <a:prstGeom prst="roundRect">
            <a:avLst>
              <a:gd name="adj" fmla="val 1519"/>
            </a:avLst>
          </a:prstGeom>
          <a:solidFill>
            <a:srgbClr val="F9EE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544568" y="16002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9FC2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44568" y="237744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Mask-Perturbation Invariance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44568" y="3703320"/>
            <a:ext cx="3154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L_total = L_bce + 0.5·L_inv keeps biological features while reducing sensitivity to observation-mask changes.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29016" y="1371600"/>
            <a:ext cx="3611880" cy="4206240"/>
          </a:xfrm>
          <a:prstGeom prst="roundRect">
            <a:avLst>
              <a:gd name="adj" fmla="val 1519"/>
            </a:avLst>
          </a:prstGeom>
          <a:solidFill>
            <a:srgbClr val="F9EE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357616" y="16002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9FC2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357616" y="237744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Tri-Fold Stress Testing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357616" y="3703320"/>
            <a:ext cx="3154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controlled loss: AUROC loss 0.009 vs 0.0264; mask shift 0.018 vs 0.054; density disparity reduced 60%.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Novelty (2/2): Deployment &amp; Validation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3611880" cy="4206240"/>
          </a:xfrm>
          <a:prstGeom prst="roundRect">
            <a:avLst>
              <a:gd name="adj" fmla="val 1519"/>
            </a:avLst>
          </a:prstGeom>
          <a:solidFill>
            <a:srgbClr val="F9EE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9FC2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Threshold &amp; Persistence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3703320"/>
            <a:ext cx="3154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VAL_POL_0450: τ=0.450 with 2 consecutive hours; transient spikes are suppressed while preserving early warning.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15968" y="1371600"/>
            <a:ext cx="3611880" cy="4206240"/>
          </a:xfrm>
          <a:prstGeom prst="roundRect">
            <a:avLst>
              <a:gd name="adj" fmla="val 1519"/>
            </a:avLst>
          </a:prstGeom>
          <a:solidFill>
            <a:srgbClr val="F9EE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544568" y="16002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9FC2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44568" y="237744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 Stream Attribution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44568" y="3703320"/>
            <a:ext cx="3154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 physiology / 38% observation; key reported drivers include lactate velocity, SOFA, MAP acceleration and WBC.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29016" y="1371600"/>
            <a:ext cx="3611880" cy="4206240"/>
          </a:xfrm>
          <a:prstGeom prst="roundRect">
            <a:avLst>
              <a:gd name="adj" fmla="val 1519"/>
            </a:avLst>
          </a:prstGeom>
          <a:solidFill>
            <a:srgbClr val="F9EE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357616" y="16002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9FC2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357616" y="237744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Zero-Overlap External Holdout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357616" y="3703320"/>
            <a:ext cx="3154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BIDMC Set B (N=20,000), 0.00% overlap, no retraining: AUROC 0.7310; transport gap 0.0510.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— Benchmark Comparison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Novelty vs Prior Art (External Benchmark)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70432"/>
          <a:ext cx="11155680" cy="5047488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412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(Year)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Structural Decoupling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AUROC · Transport Gap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GRU-D (2018)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Exploits mask (M, Δt) as a direct predictor; no structural decoupling.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0.6850 · gap 0.0830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DeepSOFA (2019)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SOFA state; no decoupling of observation process.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0.6980 · gap 0.0760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COMPOSER (2021)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decoupling through a time-since-last-measurement mask.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0.7120 · gap 0.0680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Subbaswamy (2019)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surgery prunes features, lowering internal accuracy.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0.7050 · gap 0.0620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AegisSepsis Model F (Ours)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decoupling with invariance regularization; all features retained.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0.7310 · gap 0.0510 (30.52% lower)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F9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Cohort &amp; Sepsis-3 Labeling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2468880"/>
            <a:ext cx="3611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Emory Set A (N=2,974) and BIDMC Set B (N=20,000); 0.00% patient overlap verified by SHA-256 audit.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315968" y="1280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F9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315968" y="178308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Causal Trajectory Representation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15968" y="2468880"/>
            <a:ext cx="3611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variables become causal Z-scores, 3 h velocity and 6 h acceleration using backward windows only.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129016" y="1280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F9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129016" y="178308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Decoupled Observation Encoding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29016" y="2468880"/>
            <a:ext cx="3611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vector O = [M, Δt, N]: availability mask, time since last observation, 12 h sampling count.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3931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F9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02920" y="443484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Invariance Backbone &amp; Policy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512064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L_total = L_bce + 0.5·L_inv; VAL_POL_0450 uses τ=0.450 with 2-hour persistence.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172200" y="3931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F9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172200" y="443484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 &amp; External Stress Tests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72200" y="512064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attribution, ECE calibration, and single-pass BIDMC validation with dropout, mask and density stress tests.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Requirements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1430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764792"/>
            <a:ext cx="73152" cy="73152"/>
          </a:xfrm>
          <a:prstGeom prst="ellipse">
            <a:avLst/>
          </a:prstGeom>
          <a:solidFill>
            <a:srgbClr val="EF9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77240" y="1645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vitals and labs from EHR feeds via HL7/FHIR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313432"/>
            <a:ext cx="73152" cy="73152"/>
          </a:xfrm>
          <a:prstGeom prst="ellipse">
            <a:avLst/>
          </a:prstGeom>
          <a:solidFill>
            <a:srgbClr val="EF9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into 1-hour windows; flag sensor artifacts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62072"/>
            <a:ext cx="73152" cy="73152"/>
          </a:xfrm>
          <a:prstGeom prst="ellipse">
            <a:avLst/>
          </a:prstGeom>
          <a:solidFill>
            <a:srgbClr val="EF9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2743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causal Z-score, velocity and acceleration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410712"/>
            <a:ext cx="73152" cy="73152"/>
          </a:xfrm>
          <a:prstGeom prst="ellipse">
            <a:avLst/>
          </a:prstGeom>
          <a:solidFill>
            <a:srgbClr val="EF9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77240" y="3291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decoupled observation vector (M, Δt, N)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59352"/>
            <a:ext cx="73152" cy="73152"/>
          </a:xfrm>
          <a:prstGeom prst="ellipse">
            <a:avLst/>
          </a:prstGeom>
          <a:solidFill>
            <a:srgbClr val="EF9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77240" y="3840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risk with the invariance-regularized model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507992"/>
            <a:ext cx="73152" cy="73152"/>
          </a:xfrm>
          <a:prstGeom prst="ellipse">
            <a:avLst/>
          </a:prstGeom>
          <a:solidFill>
            <a:srgbClr val="EF9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77240" y="4389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VAL_POL_0450 dual-tier alert policy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056632"/>
            <a:ext cx="73152" cy="73152"/>
          </a:xfrm>
          <a:prstGeom prst="ellipse">
            <a:avLst/>
          </a:prstGeom>
          <a:solidFill>
            <a:srgbClr val="EF9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7240" y="4937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VAL_POL_0450 (τ=0.450; 2-hour persistence).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605272"/>
            <a:ext cx="73152" cy="73152"/>
          </a:xfrm>
          <a:prstGeom prst="ellipse">
            <a:avLst/>
          </a:prstGeom>
          <a:solidFill>
            <a:srgbClr val="EF9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777240" y="5486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risk trend and SHAP rationale on the dashboard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1143000"/>
            <a:ext cx="5349240" cy="5166360"/>
          </a:xfrm>
          <a:prstGeom prst="roundRect">
            <a:avLst>
              <a:gd name="adj" fmla="val 1062"/>
            </a:avLst>
          </a:prstGeom>
          <a:solidFill>
            <a:srgbClr val="123332"/>
          </a:solidFill>
          <a:ln/>
        </p:spPr>
        <p:txBody>
          <a:bodyPr/>
          <a:lstStyle/>
          <a:p>
            <a:r>
              <a:t>Generate SHAP-based feature attribution and display rationale with the risk trend.</a:t>
            </a:r>
            <a:endParaRPr/>
          </a:p>
        </p:txBody>
      </p:sp>
      <p:sp>
        <p:nvSpPr>
          <p:cNvPr id="21" name="Text 19"/>
          <p:cNvSpPr/>
          <p:nvPr/>
        </p:nvSpPr>
        <p:spPr>
          <a:xfrm>
            <a:off x="6629400" y="13716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629400" y="196596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 </a:t>
            </a:r>
            <a:r>
              <a:rPr lang="en-US" sz="12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under 2.0 seconds end-to-end inference latency per patient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29400" y="267919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 </a:t>
            </a:r>
            <a:r>
              <a:rPr lang="en-US" sz="12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scales to 500 concurrent ICU beds via Kubernetes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29400" y="3392424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&amp; Trust  </a:t>
            </a:r>
            <a:r>
              <a:rPr lang="en-US" sz="12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intuitive dashboard requiring no ML background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29400" y="4105656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  </a:t>
            </a:r>
            <a:r>
              <a:rPr lang="en-US" sz="12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modular, containerized (Docker) architecture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29400" y="4818888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 </a:t>
            </a:r>
            <a:r>
              <a:rPr lang="en-US" sz="12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HIPAA-compliant, TLS 1.3 encryption, no unhashed identifiers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629400" y="553212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 </a:t>
            </a:r>
            <a:r>
              <a:rPr lang="en-US" sz="12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99.9% uptime with automated failover mechanisms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7772400" cy="5230368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3.10+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FastAPI, Uvicorn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Dashboard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React.js, WebSockets, Plotly.js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Learning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PyTorch 2.1, XGBoost 2.0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PyTest (unit &amp; integration)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 (TreeSHAP)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Streaming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Kafka, Pandas, NumPy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&amp; Caching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PostgreSQL, Redis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Docker, Kubernetes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Hardware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NVIDIA A100 / RTX 4080 GPU, Ubuntu 22.04 LTS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549640" y="1234440"/>
            <a:ext cx="3108960" cy="5212080"/>
          </a:xfrm>
          <a:prstGeom prst="roundRect">
            <a:avLst>
              <a:gd name="adj" fmla="val 1765"/>
            </a:avLst>
          </a:prstGeom>
          <a:solidFill>
            <a:srgbClr val="123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8823960" y="15087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Snapshot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823960" y="2103120"/>
            <a:ext cx="2606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5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microservices are containerized with Docker and orchestrated via Kubernetes, scaling horizontally to monitor up to 500 active ICU beds with sub-2-second inference latency.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8823960" y="4297680"/>
            <a:ext cx="2331720" cy="0"/>
          </a:xfrm>
          <a:prstGeom prst="line">
            <a:avLst/>
          </a:prstGeom>
          <a:noFill/>
          <a:ln w="12700">
            <a:solidFill>
              <a:srgbClr val="2E52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8823960" y="44805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Environment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823960" y="484632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RTX 4080 / A100 GPU (16GB+ VRAM), Linux Ubuntu 22.04 LTS.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External Validation (BIDMC Set B)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9FC2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96596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AUROC 0.7310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02920" y="265176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 vs 0.7161 baseline on N=20,000, zero retraining (95% CI 0.7180–0.7440).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15968" y="12801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9FC2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315968" y="196596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 Gap −30.52%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315968" y="265176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fell from 0.0734 to 0.0510 (p=0.001, FDR q=0.003, Cohen's d=0.620).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129016" y="12801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9FC2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8129016" y="196596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2.93x Lower Dropout Loss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129016" y="265176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40% measurement loss, AUROC loss 0.0090 vs 0.0264 (p&lt;0.001).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8404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9FC2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02920" y="452628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3.00x Smaller Shift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02920" y="521208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physiology, perturbed masks: Δp 0.0180 vs 0.0540 (p&lt;0.001, d=1.150).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15968" y="38404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9FC2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315968" y="452628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60.0% Less Disparity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315968" y="521208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(Q1) vs dense (Q4) gap fell from 0.0775 to 0.0310 (p=0.001).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29016" y="38404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9FC2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8129016" y="452628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ECE 0.0182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129016" y="521208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 calibration error is much lower than the reported LSTM baseline (0.0845).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Alert Policy VAL_POL_0450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F9EE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1: PyTest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and integration tests for Z-scores, velocity, masks, policy gating and API contracts.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15968" y="128016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F9EE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44568" y="15087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2: Internal CV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44568" y="210312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 on Emory Set A (N=2,974); Set A AUROC 0.7820.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129016" y="128016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F9EE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357616" y="15087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3: External Holdout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357616" y="210312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Single-pass BIDMC Set B (N=20,000), 0.00% overlap, no retraining or tuning.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84048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123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31520" y="40690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Stress Tests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466344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0–80%, same-physiology mask perturbation, density quartiles Q1–Q4.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15968" y="384048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123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544568" y="40690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Policy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44568" y="466344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τ=0.450 + 2-hour persistence.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29016" y="384048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123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357616" y="40690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Bedside Impact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57616" y="466344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64.2% fewer false alerts; reported 94.8% early sensitivity with ~6 h advance warning.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Plan (Fall 2026–27)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F9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Phases 1–2: Survey &amp; Cohorts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2468880"/>
            <a:ext cx="3611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survey, Sepsis-3 labeling, Emory/BIDMC cohorts, zero-overlap audit — completed.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315968" y="1280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F9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315968" y="178308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3: Causal Features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15968" y="2468880"/>
            <a:ext cx="3611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Z-scores, velocity/acceleration and observation vectors — completed.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129016" y="1280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F9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129016" y="178308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Phases 4–5: Modeling &amp; Testing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29016" y="2468880"/>
            <a:ext cx="3611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Invariance training, Model A–F ablation, BIDMC holdout and stress tests — completed.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3931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F9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02920" y="443484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Phases 6–7: XAI &amp; Services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512064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TreeSHAP and policy simulation done; FastAPI / Docker dashboard in progress.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172200" y="3931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F9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172200" y="443484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8: Final Submission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72200" y="512064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testing, documentation and dissertation submission — planned.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111556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AegisSepsis AI separates patient physiology from the clinical observation process. On the independent BIDMC holdout, it achieved AUROC 0.7310 and reduced the transportability gap from 0.0734 to 0.0510.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controlled measurement loss, AUROC loss was 0.0090 vs 0.0264 for the baseline; with identical physiology and changed observation masks, prediction shift was 0.0180 vs 0.0540.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 also showed ECE 0.0182, while the reported SHAP analysis attributed 62% to physiology and 38% to observation-process signals.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1887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51206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AegisSepsis AI shows that explicitly separating patient physiology from observation behavior can improve cross-hospital transportability and robustness.</a:t>
            </a: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BIDMC AUROC was 0.7310, with a transport gap of 0.0510 and strong robustness to measurement loss and mask changes.</a:t>
            </a: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remain: retrospective design, one external center, residual transport gap, and no prospective silent clinical trial.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035040" y="1143000"/>
            <a:ext cx="5623560" cy="5349240"/>
          </a:xfrm>
          <a:prstGeom prst="roundRect">
            <a:avLst>
              <a:gd name="adj" fmla="val 1026"/>
            </a:avLst>
          </a:prstGeom>
          <a:solidFill>
            <a:srgbClr val="123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355080" y="13716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55080" y="196596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Prospective Bedside Integration
</a:t>
            </a:r>
            <a:r>
              <a:rPr lang="en-US" sz="11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live clinical-trial evaluations across hospital ICUs to validate real-time alert efficacy and clinician workflow impact.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55080" y="2999232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Wearable Sensor Fusion
</a:t>
            </a:r>
            <a:r>
              <a:rPr lang="en-US" sz="11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pipeline to ingest high-frequency telemetry from non-invasive wearables (PPG, ECG, transcutaneous SpO2).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55080" y="4032504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HL7 FHIR Standardized API
</a:t>
            </a:r>
            <a:r>
              <a:rPr lang="en-US" sz="11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open-source FHIR R4 microservices for plug-and-play integration into Epic, Cerner, and Oracle Health.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55080" y="5065776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Multi-Center Federated Expansion
</a:t>
            </a:r>
            <a:r>
              <a:rPr lang="en-US" sz="11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federated knowledge-graph representation for collaborative model updates while preserving patient privacy.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537784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A. Henry, N. Ingraham, and S. Saria, “A targeted real-time early warning score (TREWScore) for septic shock,” Sci. Transl. Med., vol. 7, no. 299, p. 299ra122, 2015.</a:t>
            </a:r>
            <a:endParaRPr lang="en-US" sz="900" dirty="0"/>
          </a:p>
          <a:p>
            <a:pPr marL="0" indent="0" algn="l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T. Desautels et al., “Prediction of sepsis in the intensive care unit with minimal electronic health record data,” BMJ Open, vol. 6, no. 9, p. e012319, 2016.</a:t>
            </a:r>
            <a:endParaRPr lang="en-US" sz="900" dirty="0"/>
          </a:p>
          <a:p>
            <a:pPr marL="0" indent="0" algn="l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J. Futoma, S. Hariharan, and K. Heller, “Learning to detect sepsis early via a multi-output Gaussian process RNN,” Proc. ICML, pp. 1174-1182, 2017.</a:t>
            </a:r>
            <a:endParaRPr lang="en-US" sz="900" dirty="0"/>
          </a:p>
          <a:p>
            <a:pPr marL="0" indent="0" algn="l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Z. Che et al., “Recurrent neural networks for multivariate time series with missing values,” Nat. Sci. Rep., vol. 8, p. 6085, 2018.</a:t>
            </a:r>
            <a:endParaRPr lang="en-US" sz="900" dirty="0"/>
          </a:p>
          <a:p>
            <a:pPr marL="0" indent="0" algn="l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J. Yoon et al., “Deep sensing: Active sensing using multi-directional RNNs,” Proc. ICLR, 2018.</a:t>
            </a:r>
            <a:endParaRPr lang="en-US" sz="900" dirty="0"/>
          </a:p>
          <a:p>
            <a:pPr marL="0" indent="0" algn="l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W. Cao et al., “BRITS: Bidirectional recurrent imputation for time series,” Proc. NeurIPS, pp. 6775-6785, 2018.</a:t>
            </a:r>
            <a:endParaRPr lang="en-US" sz="900" dirty="0"/>
          </a:p>
          <a:p>
            <a:pPr marL="0" indent="0" algn="l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B. Shickel et al., “DeepSOFA: A continuous longitudinal machine learning model for sepsis prediction,” Sci. Rep., vol. 9, p. 20371, 2019.</a:t>
            </a:r>
            <a:endParaRPr lang="en-US" sz="900" dirty="0"/>
          </a:p>
          <a:p>
            <a:pPr marL="0" indent="0" algn="l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A. Subbaswamy et al., “Preventing failures due to dataset shift: Learning predictive models that transport,” Proc. NeurIPS, pp. 3173-3183, 2019.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80760" y="1234440"/>
            <a:ext cx="537784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B. Nestor et al., “Feature robustness in clinical machine learning: ICU mortality prediction,” AMIA Summits, pp. 156-165, 2019.</a:t>
            </a:r>
            <a:endParaRPr lang="en-US" sz="900" dirty="0"/>
          </a:p>
          <a:p>
            <a:pPr marL="0" indent="0" algn="l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S. M. Lundberg et al., “From local explanations to global understanding with explainable AI for trees,” Nat. Mach. Intell., vol. 2, pp. 56-67, 2020.</a:t>
            </a:r>
            <a:endParaRPr lang="en-US" sz="900" dirty="0"/>
          </a:p>
          <a:p>
            <a:pPr marL="0" indent="0" algn="l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M. Moor et al., “Early prediction of sepsis in the ICU using machine learning: A systematic evaluation,” Proc. MLHC, pp. 420-445, 2021.</a:t>
            </a:r>
            <a:endParaRPr lang="en-US" sz="900" dirty="0"/>
          </a:p>
          <a:p>
            <a:pPr marL="0" indent="0" algn="l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S. P. Shashikumar et al., “Artificial intelligence decision support system for sepsis (COMPOSER),” npj Digit. Med., vol. 4, p. 123, 2021.</a:t>
            </a:r>
            <a:endParaRPr lang="en-US" sz="900" dirty="0"/>
          </a:p>
          <a:p>
            <a:pPr marL="0" indent="0" algn="l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A. Subbaswamy and S. Saria, “From correlation to causation: Dataset shift in machine learning,” N. Engl. J. Med. AI, vol. 385, pp. 1630-1631, 2021.</a:t>
            </a:r>
            <a:endParaRPr lang="en-US" sz="900" dirty="0"/>
          </a:p>
          <a:p>
            <a:pPr marL="0" indent="0" algn="l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[14] E. Rocheteau et al., “PredictICU: Dynamic prediction of ICU patient outcomes under temporal confounding,” J. Am. Med. Inform. Assoc., vol. 28, pp. 2650-2660, 2021.</a:t>
            </a:r>
            <a:endParaRPr lang="en-US" sz="900" dirty="0"/>
          </a:p>
          <a:p>
            <a:pPr marL="0" indent="0" algn="l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[15] M. Singer et al., “The Third International Consensus Definitions for Sepsis and Septic Shock (Sepsis-3),” JAMA, vol. 315, no. 8, pp. 801-810, 2016.</a:t>
            </a:r>
            <a:endParaRPr lang="en-US" sz="900" dirty="0"/>
          </a:p>
          <a:p>
            <a:pPr marL="0" indent="0" algn="l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list of 29 references is provided in the Review-2 report.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3894</Words>
  <Application>Microsoft Office PowerPoint</Application>
  <PresentationFormat>Widescreen</PresentationFormat>
  <Paragraphs>434</Paragraphs>
  <Slides>27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sudhanshu Jha</cp:lastModifiedBy>
  <cp:revision>3</cp:revision>
  <dcterms:created xsi:type="dcterms:W3CDTF">2026-08-13T06:57:40Z</dcterms:created>
  <dcterms:modified xsi:type="dcterms:W3CDTF">2026-10-05T19:55:21Z</dcterms:modified>
</cp:coreProperties>
</file>